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39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22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9" d="100"/>
          <a:sy n="19" d="100"/>
        </p:scale>
        <p:origin x="1088" y="240"/>
      </p:cViewPr>
      <p:guideLst/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01-img-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02-svg-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05-img-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06-img-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12-img-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13-img-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14-img-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15-img-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Титульный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647950"/>
            <a:ext cx="685800" cy="190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1143000" y="7410450"/>
            <a:ext cx="16002000" cy="1485900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4" name="Image 4" descr="OTU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62025"/>
            <a:ext cx="1539329" cy="5334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13433227" y="952500"/>
            <a:ext cx="3787973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Machine Learning · Professional</a:t>
            </a:r>
            <a:endParaRPr lang="ru-RU" sz="1800" dirty="0"/>
          </a:p>
          <a:p>
            <a:pPr marL="0" indent="0" algn="r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Курсовая работа · апрель 2026</a:t>
            </a:r>
            <a:endParaRPr lang="ru-RU" sz="1800" dirty="0"/>
          </a:p>
        </p:txBody>
      </p:sp>
      <p:sp>
        <p:nvSpPr>
          <p:cNvPr id="6" name="Text 6"/>
          <p:cNvSpPr txBox="1"/>
          <p:nvPr/>
        </p:nvSpPr>
        <p:spPr>
          <a:xfrm>
            <a:off x="1143000" y="3009900"/>
            <a:ext cx="14363700" cy="2990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75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Прогнозирование спроса</a:t>
            </a:r>
            <a:endParaRPr lang="ru-RU" sz="7500" dirty="0"/>
          </a:p>
          <a:p>
            <a:pPr marL="0" indent="0" algn="l">
              <a:buNone/>
            </a:pPr>
            <a:r>
              <a:rPr lang="ru-RU" sz="75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 автоматах быстрого питания</a:t>
            </a:r>
            <a:endParaRPr lang="ru-RU" sz="7500" dirty="0"/>
          </a:p>
        </p:txBody>
      </p:sp>
      <p:sp>
        <p:nvSpPr>
          <p:cNvPr id="7" name="Text 7"/>
          <p:cNvSpPr txBox="1"/>
          <p:nvPr/>
        </p:nvSpPr>
        <p:spPr>
          <a:xfrm>
            <a:off x="1143000" y="6229350"/>
            <a:ext cx="160782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7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Шилин Георгий</a:t>
            </a:r>
            <a:endParaRPr lang="ru-RU" sz="2700" dirty="0"/>
          </a:p>
        </p:txBody>
      </p:sp>
      <p:sp>
        <p:nvSpPr>
          <p:cNvPr id="8" name="Text 8"/>
          <p:cNvSpPr txBox="1"/>
          <p:nvPr/>
        </p:nvSpPr>
        <p:spPr>
          <a:xfrm>
            <a:off x="1143000" y="7800975"/>
            <a:ext cx="3642866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КЛЮЧЕВОЙ РЕЗУЛЬТАТ</a:t>
            </a:r>
            <a:endParaRPr lang="ru-RU" sz="1800" dirty="0"/>
          </a:p>
        </p:txBody>
      </p:sp>
      <p:sp>
        <p:nvSpPr>
          <p:cNvPr id="9" name="Text 9"/>
          <p:cNvSpPr txBox="1"/>
          <p:nvPr/>
        </p:nvSpPr>
        <p:spPr>
          <a:xfrm>
            <a:off x="1143000" y="8210550"/>
            <a:ext cx="3642866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5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MAE 0.597</a:t>
            </a:r>
            <a:endParaRPr lang="ru-RU" sz="5400" dirty="0"/>
          </a:p>
        </p:txBody>
      </p:sp>
      <p:sp>
        <p:nvSpPr>
          <p:cNvPr id="10" name="Text 10"/>
          <p:cNvSpPr txBox="1"/>
          <p:nvPr/>
        </p:nvSpPr>
        <p:spPr>
          <a:xfrm>
            <a:off x="5281166" y="7800975"/>
            <a:ext cx="8754963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ОТНОСИТЕЛЬНО BASELINE</a:t>
            </a:r>
            <a:endParaRPr lang="ru-RU" sz="1800" dirty="0"/>
          </a:p>
        </p:txBody>
      </p:sp>
      <p:sp>
        <p:nvSpPr>
          <p:cNvPr id="11" name="Text 11"/>
          <p:cNvSpPr txBox="1"/>
          <p:nvPr/>
        </p:nvSpPr>
        <p:spPr>
          <a:xfrm>
            <a:off x="5281166" y="8210550"/>
            <a:ext cx="8754963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5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−16.2%</a:t>
            </a:r>
            <a:endParaRPr lang="ru-RU" sz="5400" dirty="0"/>
          </a:p>
        </p:txBody>
      </p:sp>
      <p:sp>
        <p:nvSpPr>
          <p:cNvPr id="12" name="Text 12"/>
          <p:cNvSpPr txBox="1"/>
          <p:nvPr/>
        </p:nvSpPr>
        <p:spPr>
          <a:xfrm>
            <a:off x="14531429" y="8178403"/>
            <a:ext cx="2689771" cy="7941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95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Test period</a:t>
            </a:r>
            <a:endParaRPr lang="ru-RU" sz="1950" dirty="0"/>
          </a:p>
          <a:p>
            <a:pPr marL="0" indent="0" algn="l">
              <a:buNone/>
            </a:pPr>
            <a:r>
              <a:rPr lang="ru-RU" sz="195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2025-12 — 2026-01</a:t>
            </a:r>
            <a:endParaRPr lang="ru-RU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Бизнес-задача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6349901" cy="1540966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3" name="Image 3" descr="Inline SVG rendered as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901" y="2095500"/>
            <a:ext cx="8889950" cy="5926634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2794099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5" name="Text 5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Бизнес-задача</a:t>
            </a:r>
            <a:endParaRPr lang="ru-RU" sz="4800" dirty="0"/>
          </a:p>
        </p:txBody>
      </p:sp>
      <p:sp>
        <p:nvSpPr>
          <p:cNvPr id="6" name="Text 6"/>
          <p:cNvSpPr txBox="1"/>
          <p:nvPr/>
        </p:nvSpPr>
        <p:spPr>
          <a:xfrm>
            <a:off x="1143000" y="2371725"/>
            <a:ext cx="6426101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Загрузка автомата — решение в ежедневном цикле</a:t>
            </a:r>
            <a:endParaRPr lang="ru-RU" sz="1800" dirty="0"/>
          </a:p>
        </p:txBody>
      </p:sp>
      <p:sp>
        <p:nvSpPr>
          <p:cNvPr id="7" name="Text 7"/>
          <p:cNvSpPr txBox="1"/>
          <p:nvPr/>
        </p:nvSpPr>
        <p:spPr>
          <a:xfrm>
            <a:off x="1143000" y="2762250"/>
            <a:ext cx="6426101" cy="9504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55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Ошибка в любую сторону превращается в убыток.</a:t>
            </a:r>
            <a:endParaRPr lang="ru-RU" sz="2550" dirty="0"/>
          </a:p>
        </p:txBody>
      </p:sp>
      <p:sp>
        <p:nvSpPr>
          <p:cNvPr id="8" name="Text 8"/>
          <p:cNvSpPr txBox="1"/>
          <p:nvPr/>
        </p:nvSpPr>
        <p:spPr>
          <a:xfrm>
            <a:off x="1143000" y="4560391"/>
            <a:ext cx="6426101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ЛИШНЯЯ ЗАГРУЗКА</a:t>
            </a:r>
            <a:endParaRPr lang="ru-RU" sz="1800" dirty="0"/>
          </a:p>
        </p:txBody>
      </p:sp>
      <p:sp>
        <p:nvSpPr>
          <p:cNvPr id="9" name="Text 9"/>
          <p:cNvSpPr txBox="1"/>
          <p:nvPr/>
        </p:nvSpPr>
        <p:spPr>
          <a:xfrm>
            <a:off x="1143000" y="4912816"/>
            <a:ext cx="6426101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5400" b="1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11—21% списаний</a:t>
            </a:r>
            <a:endParaRPr lang="ru-RU" sz="5400" dirty="0"/>
          </a:p>
        </p:txBody>
      </p:sp>
      <p:sp>
        <p:nvSpPr>
          <p:cNvPr id="10" name="Text 10"/>
          <p:cNvSpPr txBox="1"/>
          <p:nvPr/>
        </p:nvSpPr>
        <p:spPr>
          <a:xfrm>
            <a:off x="1143000" y="5674816"/>
            <a:ext cx="6426101" cy="4494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Истечение срока годности</a:t>
            </a:r>
            <a:endParaRPr lang="ru-RU" sz="2100" dirty="0"/>
          </a:p>
        </p:txBody>
      </p:sp>
      <p:sp>
        <p:nvSpPr>
          <p:cNvPr id="11" name="Text 11"/>
          <p:cNvSpPr txBox="1"/>
          <p:nvPr/>
        </p:nvSpPr>
        <p:spPr>
          <a:xfrm>
            <a:off x="1143000" y="6352877"/>
            <a:ext cx="6426101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НЕДОЗАГРУЗКА</a:t>
            </a:r>
            <a:endParaRPr lang="ru-RU" sz="1800" dirty="0"/>
          </a:p>
        </p:txBody>
      </p:sp>
      <p:sp>
        <p:nvSpPr>
          <p:cNvPr id="12" name="Text 12"/>
          <p:cNvSpPr txBox="1"/>
          <p:nvPr/>
        </p:nvSpPr>
        <p:spPr>
          <a:xfrm>
            <a:off x="1143000" y="6705302"/>
            <a:ext cx="6426101" cy="9504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5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Пустой автомат → потерянные продажи</a:t>
            </a:r>
            <a:endParaRPr lang="ru-RU" sz="2550" dirty="0"/>
          </a:p>
        </p:txBody>
      </p:sp>
      <p:sp>
        <p:nvSpPr>
          <p:cNvPr id="13" name="Text 13"/>
          <p:cNvSpPr txBox="1"/>
          <p:nvPr/>
        </p:nvSpPr>
        <p:spPr>
          <a:xfrm>
            <a:off x="8254901" y="8174534"/>
            <a:ext cx="89661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Рис. 1. Прогноз спроса — промежуточный шаг перед решением о загрузке.</a:t>
            </a:r>
            <a:endParaRPr lang="ru-RU" sz="1200" dirty="0"/>
          </a:p>
        </p:txBody>
      </p:sp>
      <p:sp>
        <p:nvSpPr>
          <p:cNvPr id="14" name="Text 14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Бизнес-задача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01 / 17</a:t>
            </a:r>
            <a:endParaRPr lang="ru-RU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-задача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16002000" cy="2571452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1143000" y="2105025"/>
            <a:ext cx="3200400" cy="2552402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4"/>
          <p:cNvSpPr/>
          <p:nvPr/>
        </p:nvSpPr>
        <p:spPr>
          <a:xfrm>
            <a:off x="4343400" y="2105025"/>
            <a:ext cx="3200400" cy="2552402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5"/>
          <p:cNvSpPr/>
          <p:nvPr/>
        </p:nvSpPr>
        <p:spPr>
          <a:xfrm>
            <a:off x="7543800" y="2105025"/>
            <a:ext cx="3200400" cy="2552402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6"/>
          <p:cNvSpPr/>
          <p:nvPr/>
        </p:nvSpPr>
        <p:spPr>
          <a:xfrm>
            <a:off x="10744200" y="2105025"/>
            <a:ext cx="3200400" cy="2552402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7"/>
          <p:cNvSpPr txBox="1"/>
          <p:nvPr/>
        </p:nvSpPr>
        <p:spPr>
          <a:xfrm>
            <a:off x="3220938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8" name="Text 8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ML-задача</a:t>
            </a:r>
            <a:endParaRPr lang="ru-RU" sz="4800" dirty="0"/>
          </a:p>
        </p:txBody>
      </p:sp>
      <p:sp>
        <p:nvSpPr>
          <p:cNvPr id="9" name="Text 9"/>
          <p:cNvSpPr txBox="1"/>
          <p:nvPr/>
        </p:nvSpPr>
        <p:spPr>
          <a:xfrm>
            <a:off x="1143000" y="2486025"/>
            <a:ext cx="29622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ТИП</a:t>
            </a:r>
            <a:endParaRPr lang="ru-RU" sz="1800" dirty="0"/>
          </a:p>
        </p:txBody>
      </p:sp>
      <p:sp>
        <p:nvSpPr>
          <p:cNvPr id="10" name="Text 10"/>
          <p:cNvSpPr txBox="1"/>
          <p:nvPr/>
        </p:nvSpPr>
        <p:spPr>
          <a:xfrm>
            <a:off x="1143000" y="2952750"/>
            <a:ext cx="2962275" cy="5581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33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Регрессия</a:t>
            </a:r>
            <a:endParaRPr lang="ru-RU" sz="3300" dirty="0"/>
          </a:p>
        </p:txBody>
      </p:sp>
      <p:sp>
        <p:nvSpPr>
          <p:cNvPr id="11" name="Text 11"/>
          <p:cNvSpPr txBox="1"/>
          <p:nvPr/>
        </p:nvSpPr>
        <p:spPr>
          <a:xfrm>
            <a:off x="4648200" y="2486025"/>
            <a:ext cx="26574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TARGET</a:t>
            </a:r>
            <a:endParaRPr lang="ru-RU" sz="1800" dirty="0"/>
          </a:p>
        </p:txBody>
      </p:sp>
      <p:sp>
        <p:nvSpPr>
          <p:cNvPr id="12" name="Text 12"/>
          <p:cNvSpPr txBox="1"/>
          <p:nvPr/>
        </p:nvSpPr>
        <p:spPr>
          <a:xfrm>
            <a:off x="4648200" y="2952750"/>
            <a:ext cx="2657475" cy="470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7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total_qty</a:t>
            </a:r>
            <a:endParaRPr lang="ru-RU" sz="2700" dirty="0"/>
          </a:p>
        </p:txBody>
      </p:sp>
      <p:sp>
        <p:nvSpPr>
          <p:cNvPr id="13" name="Text 13"/>
          <p:cNvSpPr txBox="1"/>
          <p:nvPr/>
        </p:nvSpPr>
        <p:spPr>
          <a:xfrm>
            <a:off x="4648200" y="3442246"/>
            <a:ext cx="2657475" cy="4494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шт / день</a:t>
            </a:r>
            <a:endParaRPr lang="ru-RU" sz="2100" dirty="0"/>
          </a:p>
        </p:txBody>
      </p:sp>
      <p:sp>
        <p:nvSpPr>
          <p:cNvPr id="14" name="Text 14"/>
          <p:cNvSpPr txBox="1"/>
          <p:nvPr/>
        </p:nvSpPr>
        <p:spPr>
          <a:xfrm>
            <a:off x="7848600" y="2486025"/>
            <a:ext cx="26574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ГРАНУЛЯРНОСТЬ</a:t>
            </a:r>
            <a:endParaRPr lang="ru-RU" sz="1800" dirty="0"/>
          </a:p>
        </p:txBody>
      </p:sp>
      <p:sp>
        <p:nvSpPr>
          <p:cNvPr id="15" name="Text 15"/>
          <p:cNvSpPr txBox="1"/>
          <p:nvPr/>
        </p:nvSpPr>
        <p:spPr>
          <a:xfrm>
            <a:off x="7848600" y="2952750"/>
            <a:ext cx="2657475" cy="82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5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автомат ×</a:t>
            </a:r>
            <a:endParaRPr lang="ru-RU" sz="2550" dirty="0"/>
          </a:p>
          <a:p>
            <a:pPr marL="0" indent="0" algn="l">
              <a:buNone/>
            </a:pPr>
            <a:r>
              <a:rPr lang="ru-RU" sz="25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товар × день</a:t>
            </a:r>
            <a:endParaRPr lang="ru-RU" sz="2550" dirty="0"/>
          </a:p>
        </p:txBody>
      </p:sp>
      <p:sp>
        <p:nvSpPr>
          <p:cNvPr id="16" name="Text 16"/>
          <p:cNvSpPr txBox="1"/>
          <p:nvPr/>
        </p:nvSpPr>
        <p:spPr>
          <a:xfrm>
            <a:off x="11049000" y="2486025"/>
            <a:ext cx="26574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ГОРИЗОНТ</a:t>
            </a:r>
            <a:endParaRPr lang="ru-RU" sz="1800" dirty="0"/>
          </a:p>
        </p:txBody>
      </p:sp>
      <p:sp>
        <p:nvSpPr>
          <p:cNvPr id="17" name="Text 17"/>
          <p:cNvSpPr txBox="1"/>
          <p:nvPr/>
        </p:nvSpPr>
        <p:spPr>
          <a:xfrm>
            <a:off x="11049000" y="2952750"/>
            <a:ext cx="2657475" cy="5581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33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 день</a:t>
            </a:r>
            <a:endParaRPr lang="ru-RU" sz="3300" dirty="0"/>
          </a:p>
        </p:txBody>
      </p:sp>
      <p:sp>
        <p:nvSpPr>
          <p:cNvPr id="18" name="Text 18"/>
          <p:cNvSpPr txBox="1"/>
          <p:nvPr/>
        </p:nvSpPr>
        <p:spPr>
          <a:xfrm>
            <a:off x="11049000" y="3529905"/>
            <a:ext cx="2657475" cy="82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следующая загрузка</a:t>
            </a:r>
            <a:endParaRPr lang="ru-RU" sz="2100" dirty="0"/>
          </a:p>
        </p:txBody>
      </p:sp>
      <p:sp>
        <p:nvSpPr>
          <p:cNvPr id="19" name="Text 19"/>
          <p:cNvSpPr txBox="1"/>
          <p:nvPr/>
        </p:nvSpPr>
        <p:spPr>
          <a:xfrm>
            <a:off x="14249400" y="2486025"/>
            <a:ext cx="29718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МЕТРИКА</a:t>
            </a:r>
            <a:endParaRPr lang="ru-RU" sz="1800" dirty="0"/>
          </a:p>
        </p:txBody>
      </p:sp>
      <p:sp>
        <p:nvSpPr>
          <p:cNvPr id="20" name="Text 20"/>
          <p:cNvSpPr txBox="1"/>
          <p:nvPr/>
        </p:nvSpPr>
        <p:spPr>
          <a:xfrm>
            <a:off x="14249400" y="2952750"/>
            <a:ext cx="2971800" cy="5581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33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MAE</a:t>
            </a:r>
            <a:endParaRPr lang="ru-RU" sz="3300" dirty="0"/>
          </a:p>
        </p:txBody>
      </p:sp>
      <p:sp>
        <p:nvSpPr>
          <p:cNvPr id="21" name="Text 21"/>
          <p:cNvSpPr txBox="1"/>
          <p:nvPr/>
        </p:nvSpPr>
        <p:spPr>
          <a:xfrm>
            <a:off x="14249400" y="3529905"/>
            <a:ext cx="2971800" cy="4494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штуки → деньги</a:t>
            </a:r>
            <a:endParaRPr lang="ru-RU" sz="2100" dirty="0"/>
          </a:p>
        </p:txBody>
      </p:sp>
      <p:sp>
        <p:nvSpPr>
          <p:cNvPr id="22" name="Text 22"/>
          <p:cNvSpPr txBox="1"/>
          <p:nvPr/>
        </p:nvSpPr>
        <p:spPr>
          <a:xfrm>
            <a:off x="1143000" y="5200352"/>
            <a:ext cx="76962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Почему MAE</a:t>
            </a:r>
            <a:endParaRPr lang="ru-RU" sz="1800" dirty="0"/>
          </a:p>
        </p:txBody>
      </p:sp>
      <p:sp>
        <p:nvSpPr>
          <p:cNvPr id="23" name="Text 23"/>
          <p:cNvSpPr txBox="1"/>
          <p:nvPr/>
        </p:nvSpPr>
        <p:spPr>
          <a:xfrm>
            <a:off x="1143000" y="5590877"/>
            <a:ext cx="7696200" cy="1387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55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Ошибка в штуках напрямую интерпретируется в списания и потерянную выручку. Устойчива к редким выбросам в продажах.</a:t>
            </a:r>
            <a:endParaRPr lang="ru-RU" sz="2550" dirty="0"/>
          </a:p>
        </p:txBody>
      </p:sp>
      <p:sp>
        <p:nvSpPr>
          <p:cNvPr id="24" name="Text 24"/>
          <p:cNvSpPr txBox="1"/>
          <p:nvPr/>
        </p:nvSpPr>
        <p:spPr>
          <a:xfrm>
            <a:off x="9525000" y="5200352"/>
            <a:ext cx="76962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Почему 1 день</a:t>
            </a:r>
            <a:endParaRPr lang="ru-RU" sz="1800" dirty="0"/>
          </a:p>
        </p:txBody>
      </p:sp>
      <p:sp>
        <p:nvSpPr>
          <p:cNvPr id="25" name="Text 25"/>
          <p:cNvSpPr txBox="1"/>
          <p:nvPr/>
        </p:nvSpPr>
        <p:spPr>
          <a:xfrm>
            <a:off x="9525000" y="5590877"/>
            <a:ext cx="7696200" cy="1387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55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Соответствует реальному циклу загрузки. Более длинные горизонты отложены на будущее.</a:t>
            </a:r>
            <a:endParaRPr lang="ru-RU" sz="2550" dirty="0"/>
          </a:p>
        </p:txBody>
      </p:sp>
      <p:sp>
        <p:nvSpPr>
          <p:cNvPr id="26" name="Text 26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ML-задача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02 / 17</a:t>
            </a:r>
            <a:endParaRPr lang="ru-RU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Данные и spli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16002000" cy="1543050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1143000" y="4829175"/>
            <a:ext cx="9953625" cy="1211461"/>
          </a:xfrm>
          <a:prstGeom prst="rect">
            <a:avLst/>
          </a:prstGeom>
          <a:noFill/>
          <a:ln w="19050">
            <a:solidFill>
              <a:srgbClr val="3A3A3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4"/>
          <p:cNvSpPr/>
          <p:nvPr/>
        </p:nvSpPr>
        <p:spPr>
          <a:xfrm>
            <a:off x="11134725" y="4829175"/>
            <a:ext cx="2986088" cy="1211461"/>
          </a:xfrm>
          <a:prstGeom prst="rect">
            <a:avLst/>
          </a:prstGeom>
          <a:noFill/>
          <a:ln w="19050">
            <a:solidFill>
              <a:srgbClr val="6E6E73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5"/>
          <p:cNvSpPr/>
          <p:nvPr/>
        </p:nvSpPr>
        <p:spPr>
          <a:xfrm>
            <a:off x="14158913" y="4829175"/>
            <a:ext cx="2986088" cy="1211461"/>
          </a:xfrm>
          <a:prstGeom prst="rect">
            <a:avLst/>
          </a:prstGeom>
          <a:noFill/>
          <a:ln w="19050">
            <a:solidFill>
              <a:srgbClr val="0F766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6"/>
          <p:cNvSpPr/>
          <p:nvPr/>
        </p:nvSpPr>
        <p:spPr>
          <a:xfrm>
            <a:off x="1143000" y="6650236"/>
            <a:ext cx="16002000" cy="1060847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7"/>
          <p:cNvSpPr txBox="1"/>
          <p:nvPr/>
        </p:nvSpPr>
        <p:spPr>
          <a:xfrm>
            <a:off x="2590502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8" name="Text 8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Данные и split</a:t>
            </a:r>
            <a:endParaRPr lang="ru-RU" sz="4800" dirty="0"/>
          </a:p>
        </p:txBody>
      </p:sp>
      <p:sp>
        <p:nvSpPr>
          <p:cNvPr id="9" name="Text 9"/>
          <p:cNvSpPr txBox="1"/>
          <p:nvPr/>
        </p:nvSpPr>
        <p:spPr>
          <a:xfrm>
            <a:off x="1143000" y="2447925"/>
            <a:ext cx="4902101" cy="1266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3.46млн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СТРОК</a:t>
            </a:r>
            <a:endParaRPr lang="ru-RU" sz="1200" dirty="0"/>
          </a:p>
        </p:txBody>
      </p:sp>
      <p:sp>
        <p:nvSpPr>
          <p:cNvPr id="10" name="Text 10"/>
          <p:cNvSpPr txBox="1"/>
          <p:nvPr/>
        </p:nvSpPr>
        <p:spPr>
          <a:xfrm>
            <a:off x="6730901" y="2447925"/>
            <a:ext cx="4902250" cy="1266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321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АВТОМАТОВ</a:t>
            </a:r>
            <a:endParaRPr lang="ru-RU" sz="1200" dirty="0"/>
          </a:p>
        </p:txBody>
      </p:sp>
      <p:sp>
        <p:nvSpPr>
          <p:cNvPr id="11" name="Text 11"/>
          <p:cNvSpPr txBox="1"/>
          <p:nvPr/>
        </p:nvSpPr>
        <p:spPr>
          <a:xfrm>
            <a:off x="12318950" y="2447925"/>
            <a:ext cx="4902101" cy="1266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890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ТОВАРОВ</a:t>
            </a:r>
            <a:endParaRPr lang="ru-RU" sz="1200" dirty="0"/>
          </a:p>
        </p:txBody>
      </p:sp>
      <p:sp>
        <p:nvSpPr>
          <p:cNvPr id="12" name="Text 12"/>
          <p:cNvSpPr txBox="1"/>
          <p:nvPr/>
        </p:nvSpPr>
        <p:spPr>
          <a:xfrm>
            <a:off x="1143000" y="4248150"/>
            <a:ext cx="6623149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Temporal split · строго по времени, без перемешивания</a:t>
            </a:r>
            <a:endParaRPr lang="ru-RU" sz="1800" dirty="0"/>
          </a:p>
        </p:txBody>
      </p:sp>
      <p:sp>
        <p:nvSpPr>
          <p:cNvPr id="13" name="Text 13"/>
          <p:cNvSpPr txBox="1"/>
          <p:nvPr/>
        </p:nvSpPr>
        <p:spPr>
          <a:xfrm>
            <a:off x="13243768" y="4248150"/>
            <a:ext cx="3977432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2024-01 ——————— 2026-01</a:t>
            </a:r>
            <a:endParaRPr lang="ru-RU" sz="1800" dirty="0"/>
          </a:p>
        </p:txBody>
      </p:sp>
      <p:sp>
        <p:nvSpPr>
          <p:cNvPr id="14" name="Text 14"/>
          <p:cNvSpPr txBox="1"/>
          <p:nvPr/>
        </p:nvSpPr>
        <p:spPr>
          <a:xfrm>
            <a:off x="1143000" y="5000625"/>
            <a:ext cx="10029825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950" b="1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TRAIN</a:t>
            </a:r>
            <a:endParaRPr lang="ru-RU" sz="1950" dirty="0"/>
          </a:p>
        </p:txBody>
      </p:sp>
      <p:sp>
        <p:nvSpPr>
          <p:cNvPr id="15" name="Text 15"/>
          <p:cNvSpPr txBox="1"/>
          <p:nvPr/>
        </p:nvSpPr>
        <p:spPr>
          <a:xfrm>
            <a:off x="1143000" y="5353050"/>
            <a:ext cx="1002982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2024-01 — 2025-08</a:t>
            </a:r>
            <a:endParaRPr lang="ru-RU" sz="1800" dirty="0"/>
          </a:p>
        </p:txBody>
      </p:sp>
      <p:sp>
        <p:nvSpPr>
          <p:cNvPr id="16" name="Text 16"/>
          <p:cNvSpPr txBox="1"/>
          <p:nvPr/>
        </p:nvSpPr>
        <p:spPr>
          <a:xfrm>
            <a:off x="1143000" y="5667375"/>
            <a:ext cx="10029825" cy="4494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20 месяцев</a:t>
            </a:r>
            <a:endParaRPr lang="ru-RU" sz="2100" dirty="0"/>
          </a:p>
        </p:txBody>
      </p:sp>
      <p:sp>
        <p:nvSpPr>
          <p:cNvPr id="17" name="Text 17"/>
          <p:cNvSpPr txBox="1"/>
          <p:nvPr/>
        </p:nvSpPr>
        <p:spPr>
          <a:xfrm>
            <a:off x="11134725" y="5000625"/>
            <a:ext cx="3062288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950" b="1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VAL</a:t>
            </a:r>
            <a:endParaRPr lang="ru-RU" sz="1950" dirty="0"/>
          </a:p>
        </p:txBody>
      </p:sp>
      <p:sp>
        <p:nvSpPr>
          <p:cNvPr id="18" name="Text 18"/>
          <p:cNvSpPr txBox="1"/>
          <p:nvPr/>
        </p:nvSpPr>
        <p:spPr>
          <a:xfrm>
            <a:off x="11134725" y="5353050"/>
            <a:ext cx="3062288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2025-09 — 2025-11</a:t>
            </a:r>
            <a:endParaRPr lang="ru-RU" sz="1800" dirty="0"/>
          </a:p>
        </p:txBody>
      </p:sp>
      <p:sp>
        <p:nvSpPr>
          <p:cNvPr id="19" name="Text 19"/>
          <p:cNvSpPr txBox="1"/>
          <p:nvPr/>
        </p:nvSpPr>
        <p:spPr>
          <a:xfrm>
            <a:off x="11134725" y="5667375"/>
            <a:ext cx="3062288" cy="4494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3 месяца</a:t>
            </a:r>
            <a:endParaRPr lang="ru-RU" sz="2100" dirty="0"/>
          </a:p>
        </p:txBody>
      </p:sp>
      <p:sp>
        <p:nvSpPr>
          <p:cNvPr id="20" name="Text 20"/>
          <p:cNvSpPr txBox="1"/>
          <p:nvPr/>
        </p:nvSpPr>
        <p:spPr>
          <a:xfrm>
            <a:off x="14158913" y="5000625"/>
            <a:ext cx="3062288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95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TEST</a:t>
            </a:r>
            <a:endParaRPr lang="ru-RU" sz="1950" dirty="0"/>
          </a:p>
        </p:txBody>
      </p:sp>
      <p:sp>
        <p:nvSpPr>
          <p:cNvPr id="21" name="Text 21"/>
          <p:cNvSpPr txBox="1"/>
          <p:nvPr/>
        </p:nvSpPr>
        <p:spPr>
          <a:xfrm>
            <a:off x="14158913" y="5353050"/>
            <a:ext cx="3062288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2025-12 — 2026-01</a:t>
            </a:r>
            <a:endParaRPr lang="ru-RU" sz="1800" dirty="0"/>
          </a:p>
        </p:txBody>
      </p:sp>
      <p:sp>
        <p:nvSpPr>
          <p:cNvPr id="22" name="Text 22"/>
          <p:cNvSpPr txBox="1"/>
          <p:nvPr/>
        </p:nvSpPr>
        <p:spPr>
          <a:xfrm>
            <a:off x="14158913" y="5667375"/>
            <a:ext cx="3062288" cy="4494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2 месяца</a:t>
            </a:r>
            <a:endParaRPr lang="ru-RU" sz="2100" dirty="0"/>
          </a:p>
        </p:txBody>
      </p:sp>
      <p:sp>
        <p:nvSpPr>
          <p:cNvPr id="23" name="Text 23"/>
          <p:cNvSpPr txBox="1"/>
          <p:nvPr/>
        </p:nvSpPr>
        <p:spPr>
          <a:xfrm>
            <a:off x="1143000" y="6964561"/>
            <a:ext cx="7696200" cy="82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Имитирует продакшен-деплой: модель обучается на прошлом и предсказывает будущее.</a:t>
            </a:r>
            <a:endParaRPr lang="ru-RU" sz="2100" dirty="0"/>
          </a:p>
        </p:txBody>
      </p:sp>
      <p:sp>
        <p:nvSpPr>
          <p:cNvPr id="24" name="Text 24"/>
          <p:cNvSpPr txBox="1"/>
          <p:nvPr/>
        </p:nvSpPr>
        <p:spPr>
          <a:xfrm>
            <a:off x="9525000" y="6964561"/>
            <a:ext cx="7696200" cy="82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Разбиение покрывает будни, выходные и праздничные провалы.</a:t>
            </a:r>
            <a:endParaRPr lang="ru-RU" sz="2100" dirty="0"/>
          </a:p>
        </p:txBody>
      </p:sp>
      <p:sp>
        <p:nvSpPr>
          <p:cNvPr id="25" name="Text 25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Данные и split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03 / 17</a:t>
            </a:r>
            <a:endParaRPr lang="ru-RU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plit · визуально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16002000" cy="5454253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1143000" y="8197453"/>
            <a:ext cx="16002000" cy="984647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4" name="Image 4" descr="Ежедневные продажи по всей сети с подсветкой периодов Train, Val, T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41" y="2333625"/>
            <a:ext cx="14234517" cy="4977854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2590502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6" name="Text 6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Данные на таймлайне</a:t>
            </a:r>
            <a:endParaRPr lang="ru-RU" sz="4800" dirty="0"/>
          </a:p>
        </p:txBody>
      </p:sp>
      <p:sp>
        <p:nvSpPr>
          <p:cNvPr id="7" name="Text 7"/>
          <p:cNvSpPr txBox="1"/>
          <p:nvPr/>
        </p:nvSpPr>
        <p:spPr>
          <a:xfrm>
            <a:off x="1143000" y="7778353"/>
            <a:ext cx="16078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Ежедневные продажи по всей сети, 2024-01 — 2026-01. Подсвечены Train (20 мес.), Val (3 мес.), Test (2 мес.).</a:t>
            </a:r>
            <a:endParaRPr lang="ru-RU" sz="1200" dirty="0"/>
          </a:p>
        </p:txBody>
      </p:sp>
      <p:sp>
        <p:nvSpPr>
          <p:cNvPr id="8" name="Text 8"/>
          <p:cNvSpPr txBox="1"/>
          <p:nvPr/>
        </p:nvSpPr>
        <p:spPr>
          <a:xfrm>
            <a:off x="1143000" y="8435578"/>
            <a:ext cx="7696200" cy="82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Офисный паттерн. Будние пики, провалы на выходных — видно на всём диапазоне.</a:t>
            </a:r>
            <a:endParaRPr lang="ru-RU" sz="2100" dirty="0"/>
          </a:p>
        </p:txBody>
      </p:sp>
      <p:sp>
        <p:nvSpPr>
          <p:cNvPr id="9" name="Text 9"/>
          <p:cNvSpPr txBox="1"/>
          <p:nvPr/>
        </p:nvSpPr>
        <p:spPr>
          <a:xfrm>
            <a:off x="9525000" y="8435578"/>
            <a:ext cx="7696200" cy="82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Split репрезентативен. Val и Test захватывают полные недельные циклы — без искажений на границах.</a:t>
            </a:r>
            <a:endParaRPr lang="ru-RU" sz="2100" dirty="0"/>
          </a:p>
        </p:txBody>
      </p:sp>
      <p:sp>
        <p:nvSpPr>
          <p:cNvPr id="10" name="Text 10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Данные на таймлайне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04 / 17</a:t>
            </a:r>
            <a:endParaRPr lang="ru-RU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DA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6349901" cy="181927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8254901" y="2095500"/>
            <a:ext cx="8889950" cy="4482257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4" name="Image 4" descr="Продажи по дням недели (офисный паттерн) и распределение total_qty (1–15, 99.7%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926" y="2295525"/>
            <a:ext cx="8489900" cy="4082207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4944517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6" name="Text 6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EDA</a:t>
            </a:r>
            <a:endParaRPr lang="ru-RU" sz="4800" dirty="0"/>
          </a:p>
        </p:txBody>
      </p:sp>
      <p:sp>
        <p:nvSpPr>
          <p:cNvPr id="7" name="Text 7"/>
          <p:cNvSpPr txBox="1"/>
          <p:nvPr/>
        </p:nvSpPr>
        <p:spPr>
          <a:xfrm>
            <a:off x="1143000" y="2371725"/>
            <a:ext cx="306065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1шт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МЕДИАНА ПРОДАЖ / ДЕНЬ</a:t>
            </a:r>
            <a:endParaRPr lang="ru-RU" sz="1200" dirty="0"/>
          </a:p>
        </p:txBody>
      </p:sp>
      <p:sp>
        <p:nvSpPr>
          <p:cNvPr id="8" name="Text 8"/>
          <p:cNvSpPr txBox="1"/>
          <p:nvPr/>
        </p:nvSpPr>
        <p:spPr>
          <a:xfrm>
            <a:off x="4508450" y="2371725"/>
            <a:ext cx="306065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4шт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95% ПРОДАЖ ≤</a:t>
            </a:r>
            <a:endParaRPr lang="ru-RU" sz="1200" dirty="0"/>
          </a:p>
        </p:txBody>
      </p:sp>
      <p:sp>
        <p:nvSpPr>
          <p:cNvPr id="9" name="Text 9"/>
          <p:cNvSpPr txBox="1"/>
          <p:nvPr/>
        </p:nvSpPr>
        <p:spPr>
          <a:xfrm>
            <a:off x="1143000" y="4686300"/>
            <a:ext cx="6426101" cy="79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Офисный паттерн. Всплески в будние дни, провалы на выходных.</a:t>
            </a:r>
            <a:endParaRPr lang="ru-RU" sz="2100" dirty="0"/>
          </a:p>
        </p:txBody>
      </p:sp>
      <p:sp>
        <p:nvSpPr>
          <p:cNvPr id="10" name="Text 10"/>
          <p:cNvSpPr txBox="1"/>
          <p:nvPr/>
        </p:nvSpPr>
        <p:spPr>
          <a:xfrm>
            <a:off x="1143000" y="5539680"/>
            <a:ext cx="6426101" cy="79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Длинный хвост. Распределение сильно скошено вправо.</a:t>
            </a:r>
            <a:endParaRPr lang="ru-RU" sz="2100" dirty="0"/>
          </a:p>
        </p:txBody>
      </p:sp>
      <p:sp>
        <p:nvSpPr>
          <p:cNvPr id="11" name="Text 11"/>
          <p:cNvSpPr txBox="1"/>
          <p:nvPr/>
        </p:nvSpPr>
        <p:spPr>
          <a:xfrm>
            <a:off x="1143000" y="6393061"/>
            <a:ext cx="6426101" cy="79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Цензурированный спрос. Ноль продаж ≠ нулевой спрос, когда товар закончился.</a:t>
            </a:r>
            <a:endParaRPr lang="ru-RU" sz="2100" dirty="0"/>
          </a:p>
        </p:txBody>
      </p:sp>
      <p:sp>
        <p:nvSpPr>
          <p:cNvPr id="12" name="Text 12"/>
          <p:cNvSpPr txBox="1"/>
          <p:nvPr/>
        </p:nvSpPr>
        <p:spPr>
          <a:xfrm>
            <a:off x="8254901" y="6730157"/>
            <a:ext cx="89661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Рис. 2. Офисный паттерн (Сб/Вс в 8× меньше) и распределение total_qty (1–15, 99.7%).</a:t>
            </a:r>
            <a:endParaRPr lang="ru-RU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EDA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05 / 17</a:t>
            </a:r>
            <a:endParaRPr lang="ru-RU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Чистка данных: расследование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6349901" cy="3131641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1143000" y="5493841"/>
            <a:ext cx="6349901" cy="984647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4"/>
          <p:cNvSpPr/>
          <p:nvPr/>
        </p:nvSpPr>
        <p:spPr>
          <a:xfrm>
            <a:off x="8254901" y="2095500"/>
            <a:ext cx="8889950" cy="157162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5"/>
          <p:cNvSpPr/>
          <p:nvPr/>
        </p:nvSpPr>
        <p:spPr>
          <a:xfrm>
            <a:off x="8254901" y="2371725"/>
            <a:ext cx="2963317" cy="1295400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6"/>
          <p:cNvSpPr/>
          <p:nvPr/>
        </p:nvSpPr>
        <p:spPr>
          <a:xfrm>
            <a:off x="11218218" y="2371725"/>
            <a:ext cx="2963317" cy="1295400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7"/>
          <p:cNvSpPr/>
          <p:nvPr/>
        </p:nvSpPr>
        <p:spPr>
          <a:xfrm>
            <a:off x="8254901" y="4443413"/>
            <a:ext cx="1758851" cy="80962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8"/>
          <p:cNvSpPr/>
          <p:nvPr/>
        </p:nvSpPr>
        <p:spPr>
          <a:xfrm>
            <a:off x="10597753" y="4443413"/>
            <a:ext cx="1861245" cy="80962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9"/>
          <p:cNvSpPr/>
          <p:nvPr/>
        </p:nvSpPr>
        <p:spPr>
          <a:xfrm>
            <a:off x="13042999" y="4443413"/>
            <a:ext cx="1759000" cy="80962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10"/>
          <p:cNvSpPr/>
          <p:nvPr/>
        </p:nvSpPr>
        <p:spPr>
          <a:xfrm>
            <a:off x="15386000" y="4276725"/>
            <a:ext cx="1758851" cy="1143000"/>
          </a:xfrm>
          <a:prstGeom prst="rect">
            <a:avLst/>
          </a:prstGeom>
          <a:noFill/>
          <a:ln w="9525">
            <a:solidFill>
              <a:srgbClr val="0F766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11"/>
          <p:cNvSpPr txBox="1"/>
          <p:nvPr/>
        </p:nvSpPr>
        <p:spPr>
          <a:xfrm>
            <a:off x="3314254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12" name="Text 12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Чистка данных: расследование</a:t>
            </a:r>
            <a:endParaRPr lang="ru-RU" sz="4800" dirty="0"/>
          </a:p>
        </p:txBody>
      </p:sp>
      <p:sp>
        <p:nvSpPr>
          <p:cNvPr id="13" name="Text 13"/>
          <p:cNvSpPr txBox="1"/>
          <p:nvPr/>
        </p:nvSpPr>
        <p:spPr>
          <a:xfrm>
            <a:off x="1143000" y="2371725"/>
            <a:ext cx="6426101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Что нашли в сырых данных</a:t>
            </a:r>
            <a:endParaRPr lang="ru-RU" sz="1800" dirty="0"/>
          </a:p>
        </p:txBody>
      </p:sp>
      <p:sp>
        <p:nvSpPr>
          <p:cNvPr id="14" name="Text 14"/>
          <p:cNvSpPr txBox="1"/>
          <p:nvPr/>
        </p:nvSpPr>
        <p:spPr>
          <a:xfrm>
            <a:off x="1143000" y="2800350"/>
            <a:ext cx="6426101" cy="79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Дубли и тестовые записи. 161K дублей продаж, 703K дублей остатков.</a:t>
            </a:r>
            <a:endParaRPr lang="ru-RU" sz="2100" dirty="0"/>
          </a:p>
        </p:txBody>
      </p:sp>
      <p:sp>
        <p:nvSpPr>
          <p:cNvPr id="15" name="Text 15"/>
          <p:cNvSpPr txBox="1"/>
          <p:nvPr/>
        </p:nvSpPr>
        <p:spPr>
          <a:xfrm>
            <a:off x="1143000" y="3653730"/>
            <a:ext cx="6426101" cy="79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Нестабильные точки. Сбои передачи данных ≠ падение спроса.</a:t>
            </a:r>
            <a:endParaRPr lang="ru-RU" sz="2100" dirty="0"/>
          </a:p>
        </p:txBody>
      </p:sp>
      <p:sp>
        <p:nvSpPr>
          <p:cNvPr id="16" name="Text 16"/>
          <p:cNvSpPr txBox="1"/>
          <p:nvPr/>
        </p:nvSpPr>
        <p:spPr>
          <a:xfrm>
            <a:off x="1143000" y="4507111"/>
            <a:ext cx="6426101" cy="79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Ноль продаж ≠ ноль спроса. Товар мог просто закончиться.</a:t>
            </a:r>
            <a:endParaRPr lang="ru-RU" sz="2100" dirty="0"/>
          </a:p>
        </p:txBody>
      </p:sp>
      <p:sp>
        <p:nvSpPr>
          <p:cNvPr id="17" name="Text 17"/>
          <p:cNvSpPr txBox="1"/>
          <p:nvPr/>
        </p:nvSpPr>
        <p:spPr>
          <a:xfrm>
            <a:off x="1143000" y="5731966"/>
            <a:ext cx="6426101" cy="82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Чистка данных — не формальность, а отдельное расследование.</a:t>
            </a:r>
            <a:endParaRPr lang="ru-RU" sz="2100" dirty="0"/>
          </a:p>
        </p:txBody>
      </p:sp>
      <p:sp>
        <p:nvSpPr>
          <p:cNvPr id="18" name="Text 18"/>
          <p:cNvSpPr txBox="1"/>
          <p:nvPr/>
        </p:nvSpPr>
        <p:spPr>
          <a:xfrm>
            <a:off x="8254901" y="2371725"/>
            <a:ext cx="2725192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5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161K</a:t>
            </a:r>
            <a:endParaRPr lang="ru-RU" sz="5400" dirty="0"/>
          </a:p>
        </p:txBody>
      </p:sp>
      <p:sp>
        <p:nvSpPr>
          <p:cNvPr id="19" name="Text 19"/>
          <p:cNvSpPr txBox="1"/>
          <p:nvPr/>
        </p:nvSpPr>
        <p:spPr>
          <a:xfrm>
            <a:off x="8254901" y="3114675"/>
            <a:ext cx="2725192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ПРОДАЖИ: ДУБЛИКАТОВ</a:t>
            </a:r>
            <a:endParaRPr lang="ru-RU" sz="1800" dirty="0"/>
          </a:p>
        </p:txBody>
      </p:sp>
      <p:sp>
        <p:nvSpPr>
          <p:cNvPr id="20" name="Text 20"/>
          <p:cNvSpPr txBox="1"/>
          <p:nvPr/>
        </p:nvSpPr>
        <p:spPr>
          <a:xfrm>
            <a:off x="11523018" y="2371725"/>
            <a:ext cx="2420392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5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703K</a:t>
            </a:r>
            <a:endParaRPr lang="ru-RU" sz="5400" dirty="0"/>
          </a:p>
        </p:txBody>
      </p:sp>
      <p:sp>
        <p:nvSpPr>
          <p:cNvPr id="21" name="Text 21"/>
          <p:cNvSpPr txBox="1"/>
          <p:nvPr/>
        </p:nvSpPr>
        <p:spPr>
          <a:xfrm>
            <a:off x="11523018" y="3114675"/>
            <a:ext cx="2420392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ОСТАТКИ: ДУБЛИКАТОВ</a:t>
            </a:r>
            <a:endParaRPr lang="ru-RU" sz="1800" dirty="0"/>
          </a:p>
        </p:txBody>
      </p:sp>
      <p:sp>
        <p:nvSpPr>
          <p:cNvPr id="22" name="Text 22"/>
          <p:cNvSpPr txBox="1"/>
          <p:nvPr/>
        </p:nvSpPr>
        <p:spPr>
          <a:xfrm>
            <a:off x="14486334" y="2371725"/>
            <a:ext cx="2734717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5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</a:t>
            </a:r>
            <a:endParaRPr lang="ru-RU" sz="5400" dirty="0"/>
          </a:p>
        </p:txBody>
      </p:sp>
      <p:sp>
        <p:nvSpPr>
          <p:cNvPr id="23" name="Text 23"/>
          <p:cNvSpPr txBox="1"/>
          <p:nvPr/>
        </p:nvSpPr>
        <p:spPr>
          <a:xfrm>
            <a:off x="14486334" y="3114675"/>
            <a:ext cx="273471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ФИЛЬТРОВ</a:t>
            </a:r>
            <a:endParaRPr lang="ru-RU" sz="1800" dirty="0"/>
          </a:p>
        </p:txBody>
      </p:sp>
      <p:sp>
        <p:nvSpPr>
          <p:cNvPr id="24" name="Text 24"/>
          <p:cNvSpPr txBox="1"/>
          <p:nvPr/>
        </p:nvSpPr>
        <p:spPr>
          <a:xfrm>
            <a:off x="8254901" y="4443413"/>
            <a:ext cx="1835051" cy="885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ctr">
              <a:buNone/>
            </a:pPr>
            <a:r>
              <a:rPr lang="ru-RU"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сырая БД</a:t>
            </a:r>
            <a:endParaRPr lang="ru-RU" sz="1950" dirty="0"/>
          </a:p>
        </p:txBody>
      </p:sp>
      <p:sp>
        <p:nvSpPr>
          <p:cNvPr id="25" name="Text 25"/>
          <p:cNvSpPr txBox="1"/>
          <p:nvPr/>
        </p:nvSpPr>
        <p:spPr>
          <a:xfrm>
            <a:off x="10166152" y="4662488"/>
            <a:ext cx="355402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4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→</a:t>
            </a:r>
            <a:endParaRPr lang="ru-RU" sz="2400" dirty="0"/>
          </a:p>
        </p:txBody>
      </p:sp>
      <p:sp>
        <p:nvSpPr>
          <p:cNvPr id="26" name="Text 26"/>
          <p:cNvSpPr txBox="1"/>
          <p:nvPr/>
        </p:nvSpPr>
        <p:spPr>
          <a:xfrm>
            <a:off x="10597753" y="4443413"/>
            <a:ext cx="1937445" cy="885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ctr">
              <a:buNone/>
            </a:pPr>
            <a:r>
              <a:rPr lang="ru-RU"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подозрения</a:t>
            </a:r>
            <a:endParaRPr lang="ru-RU" sz="1950" dirty="0"/>
          </a:p>
        </p:txBody>
      </p:sp>
      <p:sp>
        <p:nvSpPr>
          <p:cNvPr id="27" name="Text 27"/>
          <p:cNvSpPr txBox="1"/>
          <p:nvPr/>
        </p:nvSpPr>
        <p:spPr>
          <a:xfrm>
            <a:off x="12611398" y="4662488"/>
            <a:ext cx="355402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4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→</a:t>
            </a:r>
            <a:endParaRPr lang="ru-RU" sz="2400" dirty="0"/>
          </a:p>
        </p:txBody>
      </p:sp>
      <p:sp>
        <p:nvSpPr>
          <p:cNvPr id="28" name="Text 28"/>
          <p:cNvSpPr txBox="1"/>
          <p:nvPr/>
        </p:nvSpPr>
        <p:spPr>
          <a:xfrm>
            <a:off x="13042999" y="4443413"/>
            <a:ext cx="1835200" cy="885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ctr">
              <a:buNone/>
            </a:pPr>
            <a:r>
              <a:rPr lang="ru-RU"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проверки</a:t>
            </a:r>
            <a:endParaRPr lang="ru-RU" sz="1950" dirty="0"/>
          </a:p>
        </p:txBody>
      </p:sp>
      <p:sp>
        <p:nvSpPr>
          <p:cNvPr id="29" name="Text 29"/>
          <p:cNvSpPr txBox="1"/>
          <p:nvPr/>
        </p:nvSpPr>
        <p:spPr>
          <a:xfrm>
            <a:off x="14954399" y="4662488"/>
            <a:ext cx="355402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4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→</a:t>
            </a:r>
            <a:endParaRPr lang="ru-RU" sz="2400" dirty="0"/>
          </a:p>
        </p:txBody>
      </p:sp>
      <p:sp>
        <p:nvSpPr>
          <p:cNvPr id="30" name="Text 30"/>
          <p:cNvSpPr txBox="1"/>
          <p:nvPr/>
        </p:nvSpPr>
        <p:spPr>
          <a:xfrm>
            <a:off x="15386000" y="4276725"/>
            <a:ext cx="1835051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ctr">
              <a:buNone/>
            </a:pPr>
            <a:r>
              <a:rPr lang="ru-RU" sz="195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источники шума</a:t>
            </a:r>
            <a:endParaRPr lang="ru-RU" sz="1950" dirty="0"/>
          </a:p>
        </p:txBody>
      </p:sp>
      <p:sp>
        <p:nvSpPr>
          <p:cNvPr id="31" name="Text 31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Чистка данных: расследование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06 / 17</a:t>
            </a:r>
            <a:endParaRPr lang="ru-RU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Чистка данных: availability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6349901" cy="3625007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1143000" y="5987207"/>
            <a:ext cx="6349901" cy="984647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4"/>
          <p:cNvSpPr/>
          <p:nvPr/>
        </p:nvSpPr>
        <p:spPr>
          <a:xfrm>
            <a:off x="8254901" y="2095500"/>
            <a:ext cx="8889950" cy="279082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5"/>
          <p:cNvSpPr/>
          <p:nvPr/>
        </p:nvSpPr>
        <p:spPr>
          <a:xfrm>
            <a:off x="8254901" y="2371725"/>
            <a:ext cx="4931718" cy="623888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6"/>
          <p:cNvSpPr/>
          <p:nvPr/>
        </p:nvSpPr>
        <p:spPr>
          <a:xfrm>
            <a:off x="13186618" y="2371725"/>
            <a:ext cx="3958233" cy="623888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7"/>
          <p:cNvSpPr/>
          <p:nvPr/>
        </p:nvSpPr>
        <p:spPr>
          <a:xfrm>
            <a:off x="8254901" y="2995613"/>
            <a:ext cx="4931718" cy="628650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8"/>
          <p:cNvSpPr/>
          <p:nvPr/>
        </p:nvSpPr>
        <p:spPr>
          <a:xfrm>
            <a:off x="13186618" y="2995613"/>
            <a:ext cx="3958233" cy="628650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9"/>
          <p:cNvSpPr/>
          <p:nvPr/>
        </p:nvSpPr>
        <p:spPr>
          <a:xfrm>
            <a:off x="8254901" y="3624263"/>
            <a:ext cx="4931718" cy="628650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10"/>
          <p:cNvSpPr/>
          <p:nvPr/>
        </p:nvSpPr>
        <p:spPr>
          <a:xfrm>
            <a:off x="13186618" y="3624263"/>
            <a:ext cx="3958233" cy="628650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11"/>
          <p:cNvSpPr/>
          <p:nvPr/>
        </p:nvSpPr>
        <p:spPr>
          <a:xfrm>
            <a:off x="8254901" y="4252913"/>
            <a:ext cx="4931718" cy="628650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2"/>
          <p:cNvSpPr/>
          <p:nvPr/>
        </p:nvSpPr>
        <p:spPr>
          <a:xfrm>
            <a:off x="13186618" y="4252913"/>
            <a:ext cx="3958233" cy="628650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3"/>
          <p:cNvSpPr txBox="1"/>
          <p:nvPr/>
        </p:nvSpPr>
        <p:spPr>
          <a:xfrm>
            <a:off x="3314254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14" name="Text 14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Что реально улучшило сигнал</a:t>
            </a:r>
            <a:endParaRPr lang="ru-RU" sz="4800" dirty="0"/>
          </a:p>
        </p:txBody>
      </p:sp>
      <p:sp>
        <p:nvSpPr>
          <p:cNvPr id="15" name="Text 15"/>
          <p:cNvSpPr txBox="1"/>
          <p:nvPr/>
        </p:nvSpPr>
        <p:spPr>
          <a:xfrm>
            <a:off x="1143000" y="2371725"/>
            <a:ext cx="6426101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Ключевые выводы</a:t>
            </a:r>
            <a:endParaRPr lang="ru-RU" sz="1800" dirty="0"/>
          </a:p>
        </p:txBody>
      </p:sp>
      <p:sp>
        <p:nvSpPr>
          <p:cNvPr id="16" name="Text 16"/>
          <p:cNvSpPr txBox="1"/>
          <p:nvPr/>
        </p:nvSpPr>
        <p:spPr>
          <a:xfrm>
            <a:off x="1143000" y="2800350"/>
            <a:ext cx="6426101" cy="4362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Данные фиксируют продажи, а не спрос.</a:t>
            </a:r>
            <a:endParaRPr lang="ru-RU" sz="2100" dirty="0"/>
          </a:p>
        </p:txBody>
      </p:sp>
      <p:sp>
        <p:nvSpPr>
          <p:cNvPr id="17" name="Text 17"/>
          <p:cNvSpPr txBox="1"/>
          <p:nvPr/>
        </p:nvSpPr>
        <p:spPr>
          <a:xfrm>
            <a:off x="1143000" y="3293715"/>
            <a:ext cx="6426101" cy="79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Три вида нуля: нет спроса, нет товара, нет связи.</a:t>
            </a:r>
            <a:endParaRPr lang="ru-RU" sz="2100" dirty="0"/>
          </a:p>
        </p:txBody>
      </p:sp>
      <p:sp>
        <p:nvSpPr>
          <p:cNvPr id="18" name="Text 18"/>
          <p:cNvSpPr txBox="1"/>
          <p:nvPr/>
        </p:nvSpPr>
        <p:spPr>
          <a:xfrm>
            <a:off x="1143000" y="4147096"/>
            <a:ext cx="6426101" cy="79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Actual Menu — полезен как диагностика, не как отдельный признак.</a:t>
            </a:r>
            <a:endParaRPr lang="ru-RU" sz="2100" dirty="0"/>
          </a:p>
        </p:txBody>
      </p:sp>
      <p:sp>
        <p:nvSpPr>
          <p:cNvPr id="19" name="Text 19"/>
          <p:cNvSpPr txBox="1"/>
          <p:nvPr/>
        </p:nvSpPr>
        <p:spPr>
          <a:xfrm>
            <a:off x="1143000" y="5000476"/>
            <a:ext cx="6426101" cy="79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Availability — работает при надёжных данных о загрузке.</a:t>
            </a:r>
            <a:endParaRPr lang="ru-RU" sz="2100" dirty="0"/>
          </a:p>
        </p:txBody>
      </p:sp>
      <p:sp>
        <p:nvSpPr>
          <p:cNvPr id="20" name="Text 20"/>
          <p:cNvSpPr txBox="1"/>
          <p:nvPr/>
        </p:nvSpPr>
        <p:spPr>
          <a:xfrm>
            <a:off x="1143000" y="6225332"/>
            <a:ext cx="6426101" cy="82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Лучший эффект дал не жёсткая чистка, а понимание скрытого спроса.</a:t>
            </a:r>
            <a:endParaRPr lang="ru-RU" sz="2100" dirty="0"/>
          </a:p>
        </p:txBody>
      </p:sp>
      <p:sp>
        <p:nvSpPr>
          <p:cNvPr id="21" name="Text 21"/>
          <p:cNvSpPr txBox="1"/>
          <p:nvPr/>
        </p:nvSpPr>
        <p:spPr>
          <a:xfrm>
            <a:off x="8254901" y="2371725"/>
            <a:ext cx="5007918" cy="700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ПОДХОД</a:t>
            </a:r>
            <a:endParaRPr lang="ru-RU" sz="1800" dirty="0"/>
          </a:p>
        </p:txBody>
      </p:sp>
      <p:sp>
        <p:nvSpPr>
          <p:cNvPr id="22" name="Text 22"/>
          <p:cNvSpPr txBox="1"/>
          <p:nvPr/>
        </p:nvSpPr>
        <p:spPr>
          <a:xfrm>
            <a:off x="13186618" y="2371725"/>
            <a:ext cx="4034433" cy="700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ЭФФЕКТ</a:t>
            </a:r>
            <a:endParaRPr lang="ru-RU" sz="1800" dirty="0"/>
          </a:p>
        </p:txBody>
      </p:sp>
      <p:sp>
        <p:nvSpPr>
          <p:cNvPr id="23" name="Text 23"/>
          <p:cNvSpPr txBox="1"/>
          <p:nvPr/>
        </p:nvSpPr>
        <p:spPr>
          <a:xfrm>
            <a:off x="8254901" y="2995613"/>
            <a:ext cx="5007918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Только продажи</a:t>
            </a:r>
            <a:endParaRPr lang="ru-RU" sz="1800" dirty="0"/>
          </a:p>
        </p:txBody>
      </p:sp>
      <p:sp>
        <p:nvSpPr>
          <p:cNvPr id="24" name="Text 24"/>
          <p:cNvSpPr txBox="1"/>
          <p:nvPr/>
        </p:nvSpPr>
        <p:spPr>
          <a:xfrm>
            <a:off x="13186618" y="2995613"/>
            <a:ext cx="4034433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Ложные нули</a:t>
            </a:r>
            <a:endParaRPr lang="ru-RU" sz="1800" dirty="0"/>
          </a:p>
        </p:txBody>
      </p:sp>
      <p:sp>
        <p:nvSpPr>
          <p:cNvPr id="25" name="Text 25"/>
          <p:cNvSpPr txBox="1"/>
          <p:nvPr/>
        </p:nvSpPr>
        <p:spPr>
          <a:xfrm>
            <a:off x="8254901" y="3624263"/>
            <a:ext cx="5007918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+ контекст остатков/загрузок</a:t>
            </a:r>
            <a:endParaRPr lang="ru-RU" sz="1800" dirty="0"/>
          </a:p>
        </p:txBody>
      </p:sp>
      <p:sp>
        <p:nvSpPr>
          <p:cNvPr id="26" name="Text 26"/>
          <p:cNvSpPr txBox="1"/>
          <p:nvPr/>
        </p:nvSpPr>
        <p:spPr>
          <a:xfrm>
            <a:off x="13186618" y="3624263"/>
            <a:ext cx="4034433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Лучший сигнал спроса</a:t>
            </a:r>
            <a:endParaRPr lang="ru-RU" sz="1800" dirty="0"/>
          </a:p>
        </p:txBody>
      </p:sp>
      <p:sp>
        <p:nvSpPr>
          <p:cNvPr id="27" name="Text 27"/>
          <p:cNvSpPr txBox="1"/>
          <p:nvPr/>
        </p:nvSpPr>
        <p:spPr>
          <a:xfrm>
            <a:off x="8254901" y="4252913"/>
            <a:ext cx="5007918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 защищённая логика</a:t>
            </a:r>
            <a:endParaRPr lang="ru-RU" sz="1800" dirty="0"/>
          </a:p>
        </p:txBody>
      </p:sp>
      <p:sp>
        <p:nvSpPr>
          <p:cNvPr id="28" name="Text 28"/>
          <p:cNvSpPr txBox="1"/>
          <p:nvPr/>
        </p:nvSpPr>
        <p:spPr>
          <a:xfrm>
            <a:off x="13186618" y="4252913"/>
            <a:ext cx="4034433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~2% ниже Test MAE</a:t>
            </a:r>
            <a:endParaRPr lang="ru-RU" sz="1800" dirty="0"/>
          </a:p>
        </p:txBody>
      </p:sp>
      <p:sp>
        <p:nvSpPr>
          <p:cNvPr id="29" name="Text 29"/>
          <p:cNvSpPr txBox="1"/>
          <p:nvPr/>
        </p:nvSpPr>
        <p:spPr>
          <a:xfrm>
            <a:off x="8254901" y="5267325"/>
            <a:ext cx="8966150" cy="1162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ctr">
              <a:buNone/>
            </a:pPr>
            <a:r>
              <a:rPr lang="ru-RU" sz="9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~2%</a:t>
            </a:r>
            <a:endParaRPr lang="ru-RU" sz="9000" dirty="0"/>
          </a:p>
        </p:txBody>
      </p:sp>
      <p:sp>
        <p:nvSpPr>
          <p:cNvPr id="30" name="Text 30"/>
          <p:cNvSpPr txBox="1"/>
          <p:nvPr/>
        </p:nvSpPr>
        <p:spPr>
          <a:xfrm>
            <a:off x="8254901" y="6467475"/>
            <a:ext cx="896615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ctr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НИЖЕ TEST MAE · ЗАЩИЩЁННЫЙ AVAILABILITY</a:t>
            </a:r>
            <a:endParaRPr lang="ru-RU" sz="1800" dirty="0"/>
          </a:p>
        </p:txBody>
      </p:sp>
      <p:sp>
        <p:nvSpPr>
          <p:cNvPr id="31" name="Text 31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Чистка данных: availability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07 / 17</a:t>
            </a:r>
            <a:endParaRPr lang="ru-RU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Предобработка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324100"/>
            <a:ext cx="16002000" cy="1276350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1143000" y="2790825"/>
            <a:ext cx="2733080" cy="80962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4"/>
          <p:cNvSpPr/>
          <p:nvPr/>
        </p:nvSpPr>
        <p:spPr>
          <a:xfrm>
            <a:off x="4460081" y="2790825"/>
            <a:ext cx="2733229" cy="80962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5"/>
          <p:cNvSpPr/>
          <p:nvPr/>
        </p:nvSpPr>
        <p:spPr>
          <a:xfrm>
            <a:off x="7777311" y="2790825"/>
            <a:ext cx="2733229" cy="80962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6"/>
          <p:cNvSpPr/>
          <p:nvPr/>
        </p:nvSpPr>
        <p:spPr>
          <a:xfrm>
            <a:off x="11094541" y="2790825"/>
            <a:ext cx="2733229" cy="80962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7"/>
          <p:cNvSpPr/>
          <p:nvPr/>
        </p:nvSpPr>
        <p:spPr>
          <a:xfrm>
            <a:off x="14411771" y="2790825"/>
            <a:ext cx="2733229" cy="809625"/>
          </a:xfrm>
          <a:prstGeom prst="rect">
            <a:avLst/>
          </a:prstGeom>
          <a:noFill/>
          <a:ln w="9525">
            <a:solidFill>
              <a:srgbClr val="0F766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8"/>
          <p:cNvSpPr/>
          <p:nvPr/>
        </p:nvSpPr>
        <p:spPr>
          <a:xfrm>
            <a:off x="1143000" y="4133850"/>
            <a:ext cx="16002000" cy="2872383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9"/>
          <p:cNvSpPr/>
          <p:nvPr/>
        </p:nvSpPr>
        <p:spPr>
          <a:xfrm>
            <a:off x="1143000" y="4486275"/>
            <a:ext cx="5334000" cy="2519958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10"/>
          <p:cNvSpPr/>
          <p:nvPr/>
        </p:nvSpPr>
        <p:spPr>
          <a:xfrm>
            <a:off x="6477000" y="4486275"/>
            <a:ext cx="5334000" cy="2519958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11"/>
          <p:cNvSpPr/>
          <p:nvPr/>
        </p:nvSpPr>
        <p:spPr>
          <a:xfrm>
            <a:off x="1143000" y="7539633"/>
            <a:ext cx="16002000" cy="649486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2"/>
          <p:cNvSpPr txBox="1"/>
          <p:nvPr/>
        </p:nvSpPr>
        <p:spPr>
          <a:xfrm>
            <a:off x="2542580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13" name="Text 13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Предобработка</a:t>
            </a:r>
            <a:endParaRPr lang="ru-RU" sz="4800" dirty="0"/>
          </a:p>
        </p:txBody>
      </p:sp>
      <p:sp>
        <p:nvSpPr>
          <p:cNvPr id="14" name="Text 14"/>
          <p:cNvSpPr txBox="1"/>
          <p:nvPr/>
        </p:nvSpPr>
        <p:spPr>
          <a:xfrm>
            <a:off x="1143000" y="2790825"/>
            <a:ext cx="2809280" cy="885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ctr">
              <a:buNone/>
            </a:pPr>
            <a:r>
              <a:rPr lang="ru-RU"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PostgreSQL</a:t>
            </a:r>
            <a:endParaRPr lang="ru-RU" sz="1950" dirty="0"/>
          </a:p>
        </p:txBody>
      </p:sp>
      <p:sp>
        <p:nvSpPr>
          <p:cNvPr id="15" name="Text 15"/>
          <p:cNvSpPr txBox="1"/>
          <p:nvPr/>
        </p:nvSpPr>
        <p:spPr>
          <a:xfrm>
            <a:off x="4028480" y="3009900"/>
            <a:ext cx="355402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4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→</a:t>
            </a:r>
            <a:endParaRPr lang="ru-RU" sz="2400" dirty="0"/>
          </a:p>
        </p:txBody>
      </p:sp>
      <p:sp>
        <p:nvSpPr>
          <p:cNvPr id="16" name="Text 16"/>
          <p:cNvSpPr txBox="1"/>
          <p:nvPr/>
        </p:nvSpPr>
        <p:spPr>
          <a:xfrm>
            <a:off x="4460081" y="2790825"/>
            <a:ext cx="2809429" cy="885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ctr">
              <a:buNone/>
            </a:pPr>
            <a:r>
              <a:rPr lang="ru-RU"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clean</a:t>
            </a:r>
            <a:endParaRPr lang="ru-RU" sz="1950" dirty="0"/>
          </a:p>
        </p:txBody>
      </p:sp>
      <p:sp>
        <p:nvSpPr>
          <p:cNvPr id="17" name="Text 17"/>
          <p:cNvSpPr txBox="1"/>
          <p:nvPr/>
        </p:nvSpPr>
        <p:spPr>
          <a:xfrm>
            <a:off x="7345710" y="3009900"/>
            <a:ext cx="355402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4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→</a:t>
            </a:r>
            <a:endParaRPr lang="ru-RU" sz="2400" dirty="0"/>
          </a:p>
        </p:txBody>
      </p:sp>
      <p:sp>
        <p:nvSpPr>
          <p:cNvPr id="18" name="Text 18"/>
          <p:cNvSpPr txBox="1"/>
          <p:nvPr/>
        </p:nvSpPr>
        <p:spPr>
          <a:xfrm>
            <a:off x="7777311" y="2790825"/>
            <a:ext cx="2809429" cy="885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ctr">
              <a:buNone/>
            </a:pPr>
            <a:r>
              <a:rPr lang="ru-RU"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parquet</a:t>
            </a:r>
            <a:endParaRPr lang="ru-RU" sz="1950" dirty="0"/>
          </a:p>
        </p:txBody>
      </p:sp>
      <p:sp>
        <p:nvSpPr>
          <p:cNvPr id="19" name="Text 19"/>
          <p:cNvSpPr txBox="1"/>
          <p:nvPr/>
        </p:nvSpPr>
        <p:spPr>
          <a:xfrm>
            <a:off x="10662940" y="3009900"/>
            <a:ext cx="355402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4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→</a:t>
            </a:r>
            <a:endParaRPr lang="ru-RU" sz="2400" dirty="0"/>
          </a:p>
        </p:txBody>
      </p:sp>
      <p:sp>
        <p:nvSpPr>
          <p:cNvPr id="20" name="Text 20"/>
          <p:cNvSpPr txBox="1"/>
          <p:nvPr/>
        </p:nvSpPr>
        <p:spPr>
          <a:xfrm>
            <a:off x="11094541" y="2790825"/>
            <a:ext cx="2809429" cy="885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ctr">
              <a:buNone/>
            </a:pPr>
            <a:r>
              <a:rPr lang="ru-RU" sz="19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features</a:t>
            </a:r>
            <a:endParaRPr lang="ru-RU" sz="1950" dirty="0"/>
          </a:p>
        </p:txBody>
      </p:sp>
      <p:sp>
        <p:nvSpPr>
          <p:cNvPr id="21" name="Text 21"/>
          <p:cNvSpPr txBox="1"/>
          <p:nvPr/>
        </p:nvSpPr>
        <p:spPr>
          <a:xfrm>
            <a:off x="13980170" y="3009900"/>
            <a:ext cx="355402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4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→</a:t>
            </a:r>
            <a:endParaRPr lang="ru-RU" sz="2400" dirty="0"/>
          </a:p>
        </p:txBody>
      </p:sp>
      <p:sp>
        <p:nvSpPr>
          <p:cNvPr id="22" name="Text 22"/>
          <p:cNvSpPr txBox="1"/>
          <p:nvPr/>
        </p:nvSpPr>
        <p:spPr>
          <a:xfrm>
            <a:off x="14411771" y="2790825"/>
            <a:ext cx="2809429" cy="885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ctr">
              <a:buNone/>
            </a:pPr>
            <a:r>
              <a:rPr lang="ru-RU" sz="195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model</a:t>
            </a:r>
            <a:endParaRPr lang="ru-RU" sz="1950" dirty="0"/>
          </a:p>
        </p:txBody>
      </p:sp>
      <p:sp>
        <p:nvSpPr>
          <p:cNvPr id="23" name="Text 23"/>
          <p:cNvSpPr txBox="1"/>
          <p:nvPr/>
        </p:nvSpPr>
        <p:spPr>
          <a:xfrm>
            <a:off x="1143000" y="4486275"/>
            <a:ext cx="4943475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72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</a:t>
            </a:r>
            <a:endParaRPr lang="ru-RU" sz="7200" dirty="0"/>
          </a:p>
        </p:txBody>
      </p:sp>
      <p:sp>
        <p:nvSpPr>
          <p:cNvPr id="24" name="Text 24"/>
          <p:cNvSpPr txBox="1"/>
          <p:nvPr/>
        </p:nvSpPr>
        <p:spPr>
          <a:xfrm>
            <a:off x="1143000" y="5457825"/>
            <a:ext cx="49434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ФИЛЬТРОВ</a:t>
            </a:r>
            <a:endParaRPr lang="ru-RU" sz="1800" dirty="0"/>
          </a:p>
        </p:txBody>
      </p:sp>
      <p:sp>
        <p:nvSpPr>
          <p:cNvPr id="25" name="Text 25"/>
          <p:cNvSpPr txBox="1"/>
          <p:nvPr/>
        </p:nvSpPr>
        <p:spPr>
          <a:xfrm>
            <a:off x="1143000" y="5886450"/>
            <a:ext cx="4943475" cy="11959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Невалидные даты, нулевые цены, тестовые автоматы, out-of-scope SKU.</a:t>
            </a:r>
            <a:endParaRPr lang="ru-RU" sz="2100" dirty="0"/>
          </a:p>
        </p:txBody>
      </p:sp>
      <p:sp>
        <p:nvSpPr>
          <p:cNvPr id="26" name="Text 26"/>
          <p:cNvSpPr txBox="1"/>
          <p:nvPr/>
        </p:nvSpPr>
        <p:spPr>
          <a:xfrm>
            <a:off x="6934200" y="4486275"/>
            <a:ext cx="4486275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72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161K</a:t>
            </a:r>
            <a:endParaRPr lang="ru-RU" sz="7200" dirty="0"/>
          </a:p>
        </p:txBody>
      </p:sp>
      <p:sp>
        <p:nvSpPr>
          <p:cNvPr id="27" name="Text 27"/>
          <p:cNvSpPr txBox="1"/>
          <p:nvPr/>
        </p:nvSpPr>
        <p:spPr>
          <a:xfrm>
            <a:off x="6934200" y="5457825"/>
            <a:ext cx="44862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ДУБЛЕЙ ПРОДАЖ</a:t>
            </a:r>
            <a:endParaRPr lang="ru-RU" sz="1800" dirty="0"/>
          </a:p>
        </p:txBody>
      </p:sp>
      <p:sp>
        <p:nvSpPr>
          <p:cNvPr id="28" name="Text 28"/>
          <p:cNvSpPr txBox="1"/>
          <p:nvPr/>
        </p:nvSpPr>
        <p:spPr>
          <a:xfrm>
            <a:off x="6934200" y="5886450"/>
            <a:ext cx="4486275" cy="82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Дедуплицировано по transaction_id.</a:t>
            </a:r>
            <a:endParaRPr lang="ru-RU" sz="2100" dirty="0"/>
          </a:p>
        </p:txBody>
      </p:sp>
      <p:sp>
        <p:nvSpPr>
          <p:cNvPr id="29" name="Text 29"/>
          <p:cNvSpPr txBox="1"/>
          <p:nvPr/>
        </p:nvSpPr>
        <p:spPr>
          <a:xfrm>
            <a:off x="12268200" y="4486275"/>
            <a:ext cx="4953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72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703K</a:t>
            </a:r>
            <a:endParaRPr lang="ru-RU" sz="7200" dirty="0"/>
          </a:p>
        </p:txBody>
      </p:sp>
      <p:sp>
        <p:nvSpPr>
          <p:cNvPr id="30" name="Text 30"/>
          <p:cNvSpPr txBox="1"/>
          <p:nvPr/>
        </p:nvSpPr>
        <p:spPr>
          <a:xfrm>
            <a:off x="12268200" y="5457825"/>
            <a:ext cx="49530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ДУБЛЕЙ ОСТАТКОВ</a:t>
            </a:r>
            <a:endParaRPr lang="ru-RU" sz="1800" dirty="0"/>
          </a:p>
        </p:txBody>
      </p:sp>
      <p:sp>
        <p:nvSpPr>
          <p:cNvPr id="31" name="Text 31"/>
          <p:cNvSpPr txBox="1"/>
          <p:nvPr/>
        </p:nvSpPr>
        <p:spPr>
          <a:xfrm>
            <a:off x="12268200" y="5886450"/>
            <a:ext cx="4953000" cy="82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Снапшоты остатков, свёрнутые по (автомат, товар, дата).</a:t>
            </a:r>
            <a:endParaRPr lang="ru-RU" sz="2100" dirty="0"/>
          </a:p>
        </p:txBody>
      </p:sp>
      <p:sp>
        <p:nvSpPr>
          <p:cNvPr id="32" name="Text 32"/>
          <p:cNvSpPr txBox="1"/>
          <p:nvPr/>
        </p:nvSpPr>
        <p:spPr>
          <a:xfrm>
            <a:off x="1143000" y="7539633"/>
            <a:ext cx="16078200" cy="7256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Дедупликация критична: двойной учёт продажи напрямую искажает target.</a:t>
            </a:r>
            <a:endParaRPr lang="ru-RU" sz="2100" dirty="0"/>
          </a:p>
        </p:txBody>
      </p:sp>
      <p:sp>
        <p:nvSpPr>
          <p:cNvPr id="33" name="Text 33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Предобработка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08 / 17</a:t>
            </a:r>
            <a:endParaRPr lang="ru-RU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eature engineering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476500"/>
            <a:ext cx="16002000" cy="3693616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1143000" y="2752725"/>
            <a:ext cx="5079950" cy="44767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4"/>
          <p:cNvSpPr/>
          <p:nvPr/>
        </p:nvSpPr>
        <p:spPr>
          <a:xfrm>
            <a:off x="6603950" y="2752725"/>
            <a:ext cx="5079950" cy="44767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5"/>
          <p:cNvSpPr/>
          <p:nvPr/>
        </p:nvSpPr>
        <p:spPr>
          <a:xfrm>
            <a:off x="12064901" y="2752725"/>
            <a:ext cx="5079950" cy="44767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6"/>
          <p:cNvSpPr/>
          <p:nvPr/>
        </p:nvSpPr>
        <p:spPr>
          <a:xfrm>
            <a:off x="1143000" y="4613821"/>
            <a:ext cx="5079950" cy="44767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7"/>
          <p:cNvSpPr/>
          <p:nvPr/>
        </p:nvSpPr>
        <p:spPr>
          <a:xfrm>
            <a:off x="6603950" y="4613821"/>
            <a:ext cx="5079950" cy="44767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8"/>
          <p:cNvSpPr/>
          <p:nvPr/>
        </p:nvSpPr>
        <p:spPr>
          <a:xfrm>
            <a:off x="12064901" y="4613821"/>
            <a:ext cx="5079950" cy="44767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9"/>
          <p:cNvSpPr/>
          <p:nvPr/>
        </p:nvSpPr>
        <p:spPr>
          <a:xfrm>
            <a:off x="1143000" y="6855916"/>
            <a:ext cx="16002000" cy="1150441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10"/>
          <p:cNvSpPr/>
          <p:nvPr/>
        </p:nvSpPr>
        <p:spPr>
          <a:xfrm>
            <a:off x="1143000" y="7354937"/>
            <a:ext cx="3699867" cy="42862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11"/>
          <p:cNvSpPr txBox="1"/>
          <p:nvPr/>
        </p:nvSpPr>
        <p:spPr>
          <a:xfrm>
            <a:off x="2842022" y="1109067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12" name="Text 12"/>
          <p:cNvSpPr txBox="1"/>
          <p:nvPr/>
        </p:nvSpPr>
        <p:spPr>
          <a:xfrm>
            <a:off x="1143000" y="1518642"/>
            <a:ext cx="12901315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Feature engineering</a:t>
            </a:r>
            <a:endParaRPr lang="ru-RU" sz="4800" dirty="0"/>
          </a:p>
        </p:txBody>
      </p:sp>
      <p:sp>
        <p:nvSpPr>
          <p:cNvPr id="13" name="Text 13"/>
          <p:cNvSpPr txBox="1"/>
          <p:nvPr/>
        </p:nvSpPr>
        <p:spPr>
          <a:xfrm>
            <a:off x="14196715" y="952500"/>
            <a:ext cx="3024485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72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</a:t>
            </a:r>
            <a:endParaRPr lang="ru-RU" sz="7200" dirty="0"/>
          </a:p>
        </p:txBody>
      </p:sp>
      <p:sp>
        <p:nvSpPr>
          <p:cNvPr id="14" name="Text 14"/>
          <p:cNvSpPr txBox="1"/>
          <p:nvPr/>
        </p:nvSpPr>
        <p:spPr>
          <a:xfrm>
            <a:off x="14196715" y="2057400"/>
            <a:ext cx="302448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ПРИЗНАКА · 6 ГРУПП</a:t>
            </a:r>
            <a:endParaRPr lang="ru-RU" sz="1800" dirty="0"/>
          </a:p>
        </p:txBody>
      </p:sp>
      <p:sp>
        <p:nvSpPr>
          <p:cNvPr id="15" name="Text 15"/>
          <p:cNvSpPr txBox="1"/>
          <p:nvPr/>
        </p:nvSpPr>
        <p:spPr>
          <a:xfrm>
            <a:off x="1143000" y="2476500"/>
            <a:ext cx="16078200" cy="3769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Категориальные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point_id, goods_id,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general_category_name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Календарные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day_of_week, month,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is_weekend, is_holiday,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day_of_month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Лаги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lag_1d, lag_7d,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lag_14d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Rolling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rolling_mean_7d, rolling_mean_14d,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rolling_mean_30d, rolling_median_7d,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rolling_std_7d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Остатки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days_since_last_load,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last_load_qty, last_expiry_qty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Цена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avg_price_rub, catalog_price_rub,</a:t>
            </a:r>
            <a:endParaRPr lang="ru-RU" sz="1200" dirty="0"/>
          </a:p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had_discount, had_promo</a:t>
            </a:r>
            <a:endParaRPr lang="ru-RU" sz="1200" dirty="0"/>
          </a:p>
        </p:txBody>
      </p:sp>
      <p:sp>
        <p:nvSpPr>
          <p:cNvPr id="16" name="Text 16"/>
          <p:cNvSpPr txBox="1"/>
          <p:nvPr/>
        </p:nvSpPr>
        <p:spPr>
          <a:xfrm>
            <a:off x="1143000" y="7354937"/>
            <a:ext cx="3776067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LEAKAGE GUARD · SHIFT(1)</a:t>
            </a:r>
            <a:endParaRPr lang="ru-RU" sz="1800" dirty="0"/>
          </a:p>
        </p:txBody>
      </p:sp>
      <p:sp>
        <p:nvSpPr>
          <p:cNvPr id="17" name="Text 17"/>
          <p:cNvSpPr txBox="1"/>
          <p:nvPr/>
        </p:nvSpPr>
        <p:spPr>
          <a:xfrm>
            <a:off x="5223867" y="7132141"/>
            <a:ext cx="11997333" cy="9504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55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Все лаги и rolling рассчитаны с .shift(1) — на момент предсказания в фичах нет информации о целевом дне.</a:t>
            </a:r>
            <a:endParaRPr lang="ru-RU" sz="2550" dirty="0"/>
          </a:p>
        </p:txBody>
      </p:sp>
      <p:sp>
        <p:nvSpPr>
          <p:cNvPr id="18" name="Text 18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Feature engineering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09 / 17</a:t>
            </a:r>
            <a:endParaRPr lang="ru-RU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aselin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8889950" cy="4526161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1143000" y="2371725"/>
            <a:ext cx="2535287" cy="623888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4"/>
          <p:cNvSpPr/>
          <p:nvPr/>
        </p:nvSpPr>
        <p:spPr>
          <a:xfrm>
            <a:off x="3678287" y="2371725"/>
            <a:ext cx="4767858" cy="623888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5"/>
          <p:cNvSpPr/>
          <p:nvPr/>
        </p:nvSpPr>
        <p:spPr>
          <a:xfrm>
            <a:off x="8446145" y="2371725"/>
            <a:ext cx="1586805" cy="623888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6"/>
          <p:cNvSpPr/>
          <p:nvPr/>
        </p:nvSpPr>
        <p:spPr>
          <a:xfrm>
            <a:off x="1143000" y="2995613"/>
            <a:ext cx="2535287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7"/>
          <p:cNvSpPr/>
          <p:nvPr/>
        </p:nvSpPr>
        <p:spPr>
          <a:xfrm>
            <a:off x="3678287" y="2995613"/>
            <a:ext cx="4767858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8"/>
          <p:cNvSpPr/>
          <p:nvPr/>
        </p:nvSpPr>
        <p:spPr>
          <a:xfrm>
            <a:off x="8446145" y="2995613"/>
            <a:ext cx="1586805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9"/>
          <p:cNvSpPr/>
          <p:nvPr/>
        </p:nvSpPr>
        <p:spPr>
          <a:xfrm>
            <a:off x="1143000" y="3671888"/>
            <a:ext cx="2535287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10"/>
          <p:cNvSpPr/>
          <p:nvPr/>
        </p:nvSpPr>
        <p:spPr>
          <a:xfrm>
            <a:off x="3678287" y="3671888"/>
            <a:ext cx="4767858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11"/>
          <p:cNvSpPr/>
          <p:nvPr/>
        </p:nvSpPr>
        <p:spPr>
          <a:xfrm>
            <a:off x="8446145" y="3671888"/>
            <a:ext cx="1586805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2"/>
          <p:cNvSpPr/>
          <p:nvPr/>
        </p:nvSpPr>
        <p:spPr>
          <a:xfrm>
            <a:off x="1143000" y="4348163"/>
            <a:ext cx="2535287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3"/>
          <p:cNvSpPr/>
          <p:nvPr/>
        </p:nvSpPr>
        <p:spPr>
          <a:xfrm>
            <a:off x="3678287" y="4348163"/>
            <a:ext cx="4767858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4"/>
          <p:cNvSpPr/>
          <p:nvPr/>
        </p:nvSpPr>
        <p:spPr>
          <a:xfrm>
            <a:off x="8446145" y="4348163"/>
            <a:ext cx="1586805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5"/>
          <p:cNvSpPr/>
          <p:nvPr/>
        </p:nvSpPr>
        <p:spPr>
          <a:xfrm>
            <a:off x="1143000" y="5024438"/>
            <a:ext cx="2535287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6"/>
          <p:cNvSpPr/>
          <p:nvPr/>
        </p:nvSpPr>
        <p:spPr>
          <a:xfrm>
            <a:off x="3678287" y="5024438"/>
            <a:ext cx="4767858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7"/>
          <p:cNvSpPr/>
          <p:nvPr/>
        </p:nvSpPr>
        <p:spPr>
          <a:xfrm>
            <a:off x="8446145" y="5024438"/>
            <a:ext cx="1586805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8"/>
          <p:cNvSpPr/>
          <p:nvPr/>
        </p:nvSpPr>
        <p:spPr>
          <a:xfrm>
            <a:off x="1143000" y="6048375"/>
            <a:ext cx="8889950" cy="573286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9"/>
          <p:cNvSpPr txBox="1"/>
          <p:nvPr/>
        </p:nvSpPr>
        <p:spPr>
          <a:xfrm>
            <a:off x="2972098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20" name="Text 20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Baseline</a:t>
            </a:r>
            <a:endParaRPr lang="ru-RU" sz="4800" dirty="0"/>
          </a:p>
        </p:txBody>
      </p:sp>
      <p:sp>
        <p:nvSpPr>
          <p:cNvPr id="21" name="Text 21"/>
          <p:cNvSpPr txBox="1"/>
          <p:nvPr/>
        </p:nvSpPr>
        <p:spPr>
          <a:xfrm>
            <a:off x="1143000" y="2371725"/>
            <a:ext cx="2611487" cy="700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МОДЕЛЬ</a:t>
            </a:r>
            <a:endParaRPr lang="ru-RU" sz="1800" dirty="0"/>
          </a:p>
        </p:txBody>
      </p:sp>
      <p:sp>
        <p:nvSpPr>
          <p:cNvPr id="22" name="Text 22"/>
          <p:cNvSpPr txBox="1"/>
          <p:nvPr/>
        </p:nvSpPr>
        <p:spPr>
          <a:xfrm>
            <a:off x="3678287" y="2371725"/>
            <a:ext cx="4844058" cy="700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ОПИСАНИЕ</a:t>
            </a:r>
            <a:endParaRPr lang="ru-RU" sz="1800" dirty="0"/>
          </a:p>
        </p:txBody>
      </p:sp>
      <p:sp>
        <p:nvSpPr>
          <p:cNvPr id="23" name="Text 23"/>
          <p:cNvSpPr txBox="1"/>
          <p:nvPr/>
        </p:nvSpPr>
        <p:spPr>
          <a:xfrm>
            <a:off x="8446145" y="2371725"/>
            <a:ext cx="1663005" cy="700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VAL MAE</a:t>
            </a:r>
            <a:endParaRPr lang="ru-RU" sz="1800" dirty="0"/>
          </a:p>
        </p:txBody>
      </p:sp>
      <p:sp>
        <p:nvSpPr>
          <p:cNvPr id="24" name="Text 24"/>
          <p:cNvSpPr txBox="1"/>
          <p:nvPr/>
        </p:nvSpPr>
        <p:spPr>
          <a:xfrm>
            <a:off x="1143000" y="2995613"/>
            <a:ext cx="2611487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Global Mean</a:t>
            </a:r>
            <a:endParaRPr lang="ru-RU" sz="2100" dirty="0"/>
          </a:p>
        </p:txBody>
      </p:sp>
      <p:sp>
        <p:nvSpPr>
          <p:cNvPr id="25" name="Text 25"/>
          <p:cNvSpPr txBox="1"/>
          <p:nvPr/>
        </p:nvSpPr>
        <p:spPr>
          <a:xfrm>
            <a:off x="3678287" y="2995613"/>
            <a:ext cx="4844058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Среднее по всему train</a:t>
            </a:r>
            <a:endParaRPr lang="ru-RU" sz="2100" dirty="0"/>
          </a:p>
        </p:txBody>
      </p:sp>
      <p:sp>
        <p:nvSpPr>
          <p:cNvPr id="26" name="Text 26"/>
          <p:cNvSpPr txBox="1"/>
          <p:nvPr/>
        </p:nvSpPr>
        <p:spPr>
          <a:xfrm>
            <a:off x="8446145" y="2995613"/>
            <a:ext cx="1663005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0.886</a:t>
            </a:r>
            <a:endParaRPr lang="ru-RU" sz="2100" dirty="0"/>
          </a:p>
        </p:txBody>
      </p:sp>
      <p:sp>
        <p:nvSpPr>
          <p:cNvPr id="27" name="Text 27"/>
          <p:cNvSpPr txBox="1"/>
          <p:nvPr/>
        </p:nvSpPr>
        <p:spPr>
          <a:xfrm>
            <a:off x="1143000" y="3671888"/>
            <a:ext cx="2611487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Group Mean</a:t>
            </a:r>
            <a:endParaRPr lang="ru-RU" sz="2100" dirty="0"/>
          </a:p>
        </p:txBody>
      </p:sp>
      <p:sp>
        <p:nvSpPr>
          <p:cNvPr id="28" name="Text 28"/>
          <p:cNvSpPr txBox="1"/>
          <p:nvPr/>
        </p:nvSpPr>
        <p:spPr>
          <a:xfrm>
            <a:off x="3678287" y="3671888"/>
            <a:ext cx="4844058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По паре (автомат, товар)</a:t>
            </a:r>
            <a:endParaRPr lang="ru-RU" sz="2100" dirty="0"/>
          </a:p>
        </p:txBody>
      </p:sp>
      <p:sp>
        <p:nvSpPr>
          <p:cNvPr id="29" name="Text 29"/>
          <p:cNvSpPr txBox="1"/>
          <p:nvPr/>
        </p:nvSpPr>
        <p:spPr>
          <a:xfrm>
            <a:off x="8446145" y="3671888"/>
            <a:ext cx="1663005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0.755</a:t>
            </a:r>
            <a:endParaRPr lang="ru-RU" sz="2100" dirty="0"/>
          </a:p>
        </p:txBody>
      </p:sp>
      <p:sp>
        <p:nvSpPr>
          <p:cNvPr id="30" name="Text 30"/>
          <p:cNvSpPr txBox="1"/>
          <p:nvPr/>
        </p:nvSpPr>
        <p:spPr>
          <a:xfrm>
            <a:off x="1143000" y="4348163"/>
            <a:ext cx="2611487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Lag-1</a:t>
            </a:r>
            <a:endParaRPr lang="ru-RU" sz="2100" dirty="0"/>
          </a:p>
        </p:txBody>
      </p:sp>
      <p:sp>
        <p:nvSpPr>
          <p:cNvPr id="31" name="Text 31"/>
          <p:cNvSpPr txBox="1"/>
          <p:nvPr/>
        </p:nvSpPr>
        <p:spPr>
          <a:xfrm>
            <a:off x="3678287" y="4348163"/>
            <a:ext cx="4844058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Продажи вчера</a:t>
            </a:r>
            <a:endParaRPr lang="ru-RU" sz="2100" dirty="0"/>
          </a:p>
        </p:txBody>
      </p:sp>
      <p:sp>
        <p:nvSpPr>
          <p:cNvPr id="32" name="Text 32"/>
          <p:cNvSpPr txBox="1"/>
          <p:nvPr/>
        </p:nvSpPr>
        <p:spPr>
          <a:xfrm>
            <a:off x="8446145" y="4348163"/>
            <a:ext cx="1663005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0.784</a:t>
            </a:r>
            <a:endParaRPr lang="ru-RU" sz="2100" dirty="0"/>
          </a:p>
        </p:txBody>
      </p:sp>
      <p:sp>
        <p:nvSpPr>
          <p:cNvPr id="33" name="Text 33"/>
          <p:cNvSpPr txBox="1"/>
          <p:nvPr/>
        </p:nvSpPr>
        <p:spPr>
          <a:xfrm>
            <a:off x="1143000" y="5024438"/>
            <a:ext cx="2611487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Rolling Mean 7d</a:t>
            </a:r>
            <a:endParaRPr lang="ru-RU" sz="2100" dirty="0"/>
          </a:p>
        </p:txBody>
      </p:sp>
      <p:sp>
        <p:nvSpPr>
          <p:cNvPr id="34" name="Text 34"/>
          <p:cNvSpPr txBox="1"/>
          <p:nvPr/>
        </p:nvSpPr>
        <p:spPr>
          <a:xfrm>
            <a:off x="3678287" y="5024438"/>
            <a:ext cx="4844058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Среднее за последнюю неделю</a:t>
            </a:r>
            <a:endParaRPr lang="ru-RU" sz="2100" dirty="0"/>
          </a:p>
        </p:txBody>
      </p:sp>
      <p:sp>
        <p:nvSpPr>
          <p:cNvPr id="35" name="Text 35"/>
          <p:cNvSpPr txBox="1"/>
          <p:nvPr/>
        </p:nvSpPr>
        <p:spPr>
          <a:xfrm>
            <a:off x="8446145" y="5024438"/>
            <a:ext cx="1663005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0.658</a:t>
            </a:r>
            <a:endParaRPr lang="ru-RU" sz="2100" dirty="0"/>
          </a:p>
        </p:txBody>
      </p:sp>
      <p:sp>
        <p:nvSpPr>
          <p:cNvPr id="36" name="Text 36"/>
          <p:cNvSpPr txBox="1"/>
          <p:nvPr/>
        </p:nvSpPr>
        <p:spPr>
          <a:xfrm>
            <a:off x="1143000" y="6048375"/>
            <a:ext cx="8966150" cy="6494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Нижняя граница, с которой сравнивается CatBoost.</a:t>
            </a:r>
            <a:endParaRPr lang="ru-RU" sz="2100" dirty="0"/>
          </a:p>
        </p:txBody>
      </p:sp>
      <p:sp>
        <p:nvSpPr>
          <p:cNvPr id="37" name="Text 37"/>
          <p:cNvSpPr txBox="1"/>
          <p:nvPr/>
        </p:nvSpPr>
        <p:spPr>
          <a:xfrm>
            <a:off x="10794950" y="2095500"/>
            <a:ext cx="3198614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Лучший простой бейзлайн</a:t>
            </a:r>
            <a:endParaRPr lang="ru-RU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0794950" y="2600325"/>
            <a:ext cx="5643414" cy="2066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2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0.658</a:t>
            </a:r>
            <a:endParaRPr lang="ru-RU" sz="12000" dirty="0"/>
          </a:p>
        </p:txBody>
      </p:sp>
      <p:sp>
        <p:nvSpPr>
          <p:cNvPr id="39" name="Text 39"/>
          <p:cNvSpPr txBox="1"/>
          <p:nvPr/>
        </p:nvSpPr>
        <p:spPr>
          <a:xfrm>
            <a:off x="10794950" y="4743450"/>
            <a:ext cx="5643414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ROLLING MEAN 7D · VAL MAE</a:t>
            </a:r>
            <a:endParaRPr lang="ru-RU" sz="1800" dirty="0"/>
          </a:p>
        </p:txBody>
      </p:sp>
      <p:sp>
        <p:nvSpPr>
          <p:cNvPr id="40" name="Text 40"/>
          <p:cNvSpPr txBox="1"/>
          <p:nvPr/>
        </p:nvSpPr>
        <p:spPr>
          <a:xfrm>
            <a:off x="10794950" y="5438775"/>
            <a:ext cx="3886200" cy="1569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Семидневное скользящее среднее уже захватывает недельную сезонность офисного паттерна.</a:t>
            </a:r>
            <a:endParaRPr lang="ru-RU" sz="2100" dirty="0"/>
          </a:p>
        </p:txBody>
      </p:sp>
      <p:sp>
        <p:nvSpPr>
          <p:cNvPr id="41" name="Text 41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Baseline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10 / 17</a:t>
            </a:r>
            <a:endParaRPr lang="ru-RU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ptuna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6349901" cy="1543050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8254901" y="2095500"/>
            <a:ext cx="8889950" cy="6819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4" name="Image 4" descr="Optuna · история поиска: Val MAE по trials, лучший trial 0.56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179" y="2371725"/>
            <a:ext cx="7017246" cy="6267301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2520851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6" name="Text 6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Optuna</a:t>
            </a:r>
            <a:endParaRPr lang="ru-RU" sz="4800" dirty="0"/>
          </a:p>
        </p:txBody>
      </p:sp>
      <p:sp>
        <p:nvSpPr>
          <p:cNvPr id="7" name="Text 7"/>
          <p:cNvSpPr txBox="1"/>
          <p:nvPr/>
        </p:nvSpPr>
        <p:spPr>
          <a:xfrm>
            <a:off x="1143000" y="2371725"/>
            <a:ext cx="6426101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TRIALS</a:t>
            </a:r>
            <a:endParaRPr lang="ru-RU" sz="1800" dirty="0"/>
          </a:p>
        </p:txBody>
      </p:sp>
      <p:sp>
        <p:nvSpPr>
          <p:cNvPr id="8" name="Text 8"/>
          <p:cNvSpPr txBox="1"/>
          <p:nvPr/>
        </p:nvSpPr>
        <p:spPr>
          <a:xfrm>
            <a:off x="1143000" y="2724150"/>
            <a:ext cx="6426101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72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53</a:t>
            </a:r>
            <a:endParaRPr lang="ru-RU" sz="7200" dirty="0"/>
          </a:p>
        </p:txBody>
      </p:sp>
      <p:sp>
        <p:nvSpPr>
          <p:cNvPr id="9" name="Text 9"/>
          <p:cNvSpPr txBox="1"/>
          <p:nvPr/>
        </p:nvSpPr>
        <p:spPr>
          <a:xfrm>
            <a:off x="1143000" y="3905250"/>
            <a:ext cx="6426101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VAL MAE</a:t>
            </a:r>
            <a:endParaRPr lang="ru-RU" sz="1800" dirty="0"/>
          </a:p>
        </p:txBody>
      </p:sp>
      <p:sp>
        <p:nvSpPr>
          <p:cNvPr id="10" name="Text 10"/>
          <p:cNvSpPr txBox="1"/>
          <p:nvPr/>
        </p:nvSpPr>
        <p:spPr>
          <a:xfrm>
            <a:off x="1143000" y="4257675"/>
            <a:ext cx="6426101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54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0.5623</a:t>
            </a:r>
            <a:endParaRPr lang="ru-RU" sz="5400" dirty="0"/>
          </a:p>
        </p:txBody>
      </p:sp>
      <p:sp>
        <p:nvSpPr>
          <p:cNvPr id="11" name="Text 11"/>
          <p:cNvSpPr txBox="1"/>
          <p:nvPr/>
        </p:nvSpPr>
        <p:spPr>
          <a:xfrm>
            <a:off x="1143000" y="5562600"/>
            <a:ext cx="6426101" cy="79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Пространство поиска: depth, lr, l2_leaf_reg, subsample</a:t>
            </a:r>
            <a:endParaRPr lang="ru-RU" sz="2100" dirty="0"/>
          </a:p>
        </p:txBody>
      </p:sp>
      <p:sp>
        <p:nvSpPr>
          <p:cNvPr id="12" name="Text 12"/>
          <p:cNvSpPr txBox="1"/>
          <p:nvPr/>
        </p:nvSpPr>
        <p:spPr>
          <a:xfrm>
            <a:off x="1143000" y="6415980"/>
            <a:ext cx="6426101" cy="4362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Лучший trial на validation: Val MAE 0.5623</a:t>
            </a:r>
            <a:endParaRPr lang="ru-RU" sz="2100" dirty="0"/>
          </a:p>
        </p:txBody>
      </p:sp>
      <p:sp>
        <p:nvSpPr>
          <p:cNvPr id="13" name="Text 13"/>
          <p:cNvSpPr txBox="1"/>
          <p:nvPr/>
        </p:nvSpPr>
        <p:spPr>
          <a:xfrm>
            <a:off x="1143000" y="6909346"/>
            <a:ext cx="6426101" cy="79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Вывод: локальный тюнинг помогает, но не меняет задачу радикально</a:t>
            </a:r>
            <a:endParaRPr lang="ru-RU" sz="2100" dirty="0"/>
          </a:p>
        </p:txBody>
      </p:sp>
      <p:sp>
        <p:nvSpPr>
          <p:cNvPr id="14" name="Text 14"/>
          <p:cNvSpPr txBox="1"/>
          <p:nvPr/>
        </p:nvSpPr>
        <p:spPr>
          <a:xfrm>
            <a:off x="8254901" y="9067800"/>
            <a:ext cx="89661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Рис. 3. История оптимизации. Тюнинг помогает локально, но главный резерв качества был не только в гиперпараметрах.</a:t>
            </a:r>
            <a:endParaRPr lang="ru-RU" sz="1200" dirty="0"/>
          </a:p>
        </p:txBody>
      </p:sp>
      <p:sp>
        <p:nvSpPr>
          <p:cNvPr id="15" name="Text 15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Optuna · тюнинг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11 / 17</a:t>
            </a:r>
            <a:endParaRPr lang="ru-RU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tBoos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6349901" cy="6485334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1143000" y="4548188"/>
            <a:ext cx="6349901" cy="971550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4"/>
          <p:cNvSpPr/>
          <p:nvPr/>
        </p:nvSpPr>
        <p:spPr>
          <a:xfrm>
            <a:off x="1143000" y="5653088"/>
            <a:ext cx="2778621" cy="404813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5"/>
          <p:cNvSpPr/>
          <p:nvPr/>
        </p:nvSpPr>
        <p:spPr>
          <a:xfrm>
            <a:off x="3921621" y="5653088"/>
            <a:ext cx="3571280" cy="404813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6"/>
          <p:cNvSpPr/>
          <p:nvPr/>
        </p:nvSpPr>
        <p:spPr>
          <a:xfrm>
            <a:off x="1143000" y="6057900"/>
            <a:ext cx="2778621" cy="4095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7"/>
          <p:cNvSpPr/>
          <p:nvPr/>
        </p:nvSpPr>
        <p:spPr>
          <a:xfrm>
            <a:off x="3921621" y="6057900"/>
            <a:ext cx="3571280" cy="4095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8"/>
          <p:cNvSpPr/>
          <p:nvPr/>
        </p:nvSpPr>
        <p:spPr>
          <a:xfrm>
            <a:off x="1143000" y="6467475"/>
            <a:ext cx="2778621" cy="4095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9"/>
          <p:cNvSpPr/>
          <p:nvPr/>
        </p:nvSpPr>
        <p:spPr>
          <a:xfrm>
            <a:off x="3921621" y="6467475"/>
            <a:ext cx="3571280" cy="4095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10"/>
          <p:cNvSpPr/>
          <p:nvPr/>
        </p:nvSpPr>
        <p:spPr>
          <a:xfrm>
            <a:off x="1143000" y="6877050"/>
            <a:ext cx="2778621" cy="4095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11"/>
          <p:cNvSpPr/>
          <p:nvPr/>
        </p:nvSpPr>
        <p:spPr>
          <a:xfrm>
            <a:off x="3921621" y="6877050"/>
            <a:ext cx="3571280" cy="4095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2"/>
          <p:cNvSpPr/>
          <p:nvPr/>
        </p:nvSpPr>
        <p:spPr>
          <a:xfrm>
            <a:off x="1143000" y="7286625"/>
            <a:ext cx="2778621" cy="4095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3"/>
          <p:cNvSpPr/>
          <p:nvPr/>
        </p:nvSpPr>
        <p:spPr>
          <a:xfrm>
            <a:off x="3921621" y="7286625"/>
            <a:ext cx="3571280" cy="4095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4"/>
          <p:cNvSpPr/>
          <p:nvPr/>
        </p:nvSpPr>
        <p:spPr>
          <a:xfrm>
            <a:off x="8254901" y="2095500"/>
            <a:ext cx="8889950" cy="65722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15" name="Image 15" descr="Прогноз vs факт · CatBoost final: hexbin-диаграмма, Test MAE 0.59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266" y="2455664"/>
            <a:ext cx="5617220" cy="5851922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4152156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17" name="Text 17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CatBoost</a:t>
            </a:r>
            <a:endParaRPr lang="ru-RU" sz="4800" dirty="0"/>
          </a:p>
        </p:txBody>
      </p:sp>
      <p:sp>
        <p:nvSpPr>
          <p:cNvPr id="18" name="Text 18"/>
          <p:cNvSpPr txBox="1"/>
          <p:nvPr/>
        </p:nvSpPr>
        <p:spPr>
          <a:xfrm>
            <a:off x="1143000" y="2333625"/>
            <a:ext cx="6426101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Финальная модель</a:t>
            </a:r>
            <a:endParaRPr lang="ru-RU" sz="1800" dirty="0"/>
          </a:p>
        </p:txBody>
      </p:sp>
      <p:sp>
        <p:nvSpPr>
          <p:cNvPr id="19" name="Text 19"/>
          <p:cNvSpPr txBox="1"/>
          <p:nvPr/>
        </p:nvSpPr>
        <p:spPr>
          <a:xfrm>
            <a:off x="1143000" y="2743200"/>
            <a:ext cx="6426101" cy="14335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12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0.597MAE</a:t>
            </a:r>
            <a:endParaRPr lang="ru-RU" sz="11250" dirty="0"/>
          </a:p>
        </p:txBody>
      </p:sp>
      <p:sp>
        <p:nvSpPr>
          <p:cNvPr id="20" name="Text 20"/>
          <p:cNvSpPr txBox="1"/>
          <p:nvPr/>
        </p:nvSpPr>
        <p:spPr>
          <a:xfrm>
            <a:off x="1143000" y="4138613"/>
            <a:ext cx="6426101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TEST · 2025-12 — 2026-01</a:t>
            </a:r>
            <a:endParaRPr lang="ru-RU" sz="1800" dirty="0"/>
          </a:p>
        </p:txBody>
      </p:sp>
      <p:sp>
        <p:nvSpPr>
          <p:cNvPr id="21" name="Text 21"/>
          <p:cNvSpPr txBox="1"/>
          <p:nvPr/>
        </p:nvSpPr>
        <p:spPr>
          <a:xfrm>
            <a:off x="1143000" y="4729163"/>
            <a:ext cx="313685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VAL MAE</a:t>
            </a:r>
            <a:endParaRPr lang="ru-RU" sz="1800" dirty="0"/>
          </a:p>
        </p:txBody>
      </p:sp>
      <p:sp>
        <p:nvSpPr>
          <p:cNvPr id="22" name="Text 22"/>
          <p:cNvSpPr txBox="1"/>
          <p:nvPr/>
        </p:nvSpPr>
        <p:spPr>
          <a:xfrm>
            <a:off x="1143000" y="5062538"/>
            <a:ext cx="313685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36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0.549</a:t>
            </a:r>
            <a:endParaRPr lang="ru-RU" sz="3600" dirty="0"/>
          </a:p>
        </p:txBody>
      </p:sp>
      <p:sp>
        <p:nvSpPr>
          <p:cNvPr id="23" name="Text 23"/>
          <p:cNvSpPr txBox="1"/>
          <p:nvPr/>
        </p:nvSpPr>
        <p:spPr>
          <a:xfrm>
            <a:off x="4432250" y="4729163"/>
            <a:ext cx="313685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VS. BASELINE</a:t>
            </a:r>
            <a:endParaRPr lang="ru-RU" sz="1800" dirty="0"/>
          </a:p>
        </p:txBody>
      </p:sp>
      <p:sp>
        <p:nvSpPr>
          <p:cNvPr id="24" name="Text 24"/>
          <p:cNvSpPr txBox="1"/>
          <p:nvPr/>
        </p:nvSpPr>
        <p:spPr>
          <a:xfrm>
            <a:off x="4432250" y="5062538"/>
            <a:ext cx="313685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3600" b="1" dirty="0">
                <a:solidFill>
                  <a:srgbClr val="1C8B5A"/>
                </a:solidFill>
                <a:latin typeface="Arial"/>
                <a:ea typeface="Arial"/>
                <a:cs typeface="Arial"/>
              </a:rPr>
              <a:t>−16.2%</a:t>
            </a:r>
            <a:endParaRPr lang="ru-RU" sz="3600" dirty="0"/>
          </a:p>
        </p:txBody>
      </p:sp>
      <p:sp>
        <p:nvSpPr>
          <p:cNvPr id="25" name="Text 25"/>
          <p:cNvSpPr txBox="1"/>
          <p:nvPr/>
        </p:nvSpPr>
        <p:spPr>
          <a:xfrm>
            <a:off x="1143000" y="5653088"/>
            <a:ext cx="2854821" cy="4810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65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depth</a:t>
            </a:r>
            <a:endParaRPr lang="ru-RU" sz="1650" dirty="0"/>
          </a:p>
        </p:txBody>
      </p:sp>
      <p:sp>
        <p:nvSpPr>
          <p:cNvPr id="26" name="Text 26"/>
          <p:cNvSpPr txBox="1"/>
          <p:nvPr/>
        </p:nvSpPr>
        <p:spPr>
          <a:xfrm>
            <a:off x="3921621" y="5653088"/>
            <a:ext cx="3647480" cy="4810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65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8</a:t>
            </a:r>
            <a:endParaRPr lang="ru-RU" sz="1650" dirty="0"/>
          </a:p>
        </p:txBody>
      </p:sp>
      <p:sp>
        <p:nvSpPr>
          <p:cNvPr id="27" name="Text 27"/>
          <p:cNvSpPr txBox="1"/>
          <p:nvPr/>
        </p:nvSpPr>
        <p:spPr>
          <a:xfrm>
            <a:off x="1143000" y="6057900"/>
            <a:ext cx="2854821" cy="485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65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iterations</a:t>
            </a:r>
            <a:endParaRPr lang="ru-RU" sz="1650" dirty="0"/>
          </a:p>
        </p:txBody>
      </p:sp>
      <p:sp>
        <p:nvSpPr>
          <p:cNvPr id="28" name="Text 28"/>
          <p:cNvSpPr txBox="1"/>
          <p:nvPr/>
        </p:nvSpPr>
        <p:spPr>
          <a:xfrm>
            <a:off x="3921621" y="6057900"/>
            <a:ext cx="3647480" cy="485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6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~933 (early stop)</a:t>
            </a:r>
            <a:endParaRPr lang="ru-RU" sz="1650" dirty="0"/>
          </a:p>
        </p:txBody>
      </p:sp>
      <p:sp>
        <p:nvSpPr>
          <p:cNvPr id="29" name="Text 29"/>
          <p:cNvSpPr txBox="1"/>
          <p:nvPr/>
        </p:nvSpPr>
        <p:spPr>
          <a:xfrm>
            <a:off x="1143000" y="6467475"/>
            <a:ext cx="2854821" cy="485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65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learning_rate</a:t>
            </a:r>
            <a:endParaRPr lang="ru-RU" sz="1650" dirty="0"/>
          </a:p>
        </p:txBody>
      </p:sp>
      <p:sp>
        <p:nvSpPr>
          <p:cNvPr id="30" name="Text 30"/>
          <p:cNvSpPr txBox="1"/>
          <p:nvPr/>
        </p:nvSpPr>
        <p:spPr>
          <a:xfrm>
            <a:off x="3921621" y="6467475"/>
            <a:ext cx="3647480" cy="485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6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0.05</a:t>
            </a:r>
            <a:endParaRPr lang="ru-RU" sz="1650" dirty="0"/>
          </a:p>
        </p:txBody>
      </p:sp>
      <p:sp>
        <p:nvSpPr>
          <p:cNvPr id="31" name="Text 31"/>
          <p:cNvSpPr txBox="1"/>
          <p:nvPr/>
        </p:nvSpPr>
        <p:spPr>
          <a:xfrm>
            <a:off x="1143000" y="6877050"/>
            <a:ext cx="2854821" cy="485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65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loss</a:t>
            </a:r>
            <a:endParaRPr lang="ru-RU" sz="1650" dirty="0"/>
          </a:p>
        </p:txBody>
      </p:sp>
      <p:sp>
        <p:nvSpPr>
          <p:cNvPr id="32" name="Text 32"/>
          <p:cNvSpPr txBox="1"/>
          <p:nvPr/>
        </p:nvSpPr>
        <p:spPr>
          <a:xfrm>
            <a:off x="3921621" y="6877050"/>
            <a:ext cx="3647480" cy="485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6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MAE</a:t>
            </a:r>
            <a:endParaRPr lang="ru-RU" sz="1650" dirty="0"/>
          </a:p>
        </p:txBody>
      </p:sp>
      <p:sp>
        <p:nvSpPr>
          <p:cNvPr id="33" name="Text 33"/>
          <p:cNvSpPr txBox="1"/>
          <p:nvPr/>
        </p:nvSpPr>
        <p:spPr>
          <a:xfrm>
            <a:off x="1143000" y="7286625"/>
            <a:ext cx="2854821" cy="485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65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cat_features</a:t>
            </a:r>
            <a:endParaRPr lang="ru-RU" sz="1650" dirty="0"/>
          </a:p>
        </p:txBody>
      </p:sp>
      <p:sp>
        <p:nvSpPr>
          <p:cNvPr id="34" name="Text 34"/>
          <p:cNvSpPr txBox="1"/>
          <p:nvPr/>
        </p:nvSpPr>
        <p:spPr>
          <a:xfrm>
            <a:off x="3921621" y="7286625"/>
            <a:ext cx="3647480" cy="485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6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native</a:t>
            </a:r>
            <a:endParaRPr lang="ru-RU" sz="1650" dirty="0"/>
          </a:p>
        </p:txBody>
      </p:sp>
      <p:sp>
        <p:nvSpPr>
          <p:cNvPr id="35" name="Text 35"/>
          <p:cNvSpPr txBox="1"/>
          <p:nvPr/>
        </p:nvSpPr>
        <p:spPr>
          <a:xfrm>
            <a:off x="1143000" y="7834313"/>
            <a:ext cx="6426101" cy="82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Optuna (53 trials) подтвердил: depth=8 оптимален · Δ = 0.0001</a:t>
            </a:r>
            <a:endParaRPr lang="ru-RU" sz="2100" dirty="0"/>
          </a:p>
        </p:txBody>
      </p:sp>
      <p:sp>
        <p:nvSpPr>
          <p:cNvPr id="36" name="Text 36"/>
          <p:cNvSpPr txBox="1"/>
          <p:nvPr/>
        </p:nvSpPr>
        <p:spPr>
          <a:xfrm>
            <a:off x="8254901" y="8820150"/>
            <a:ext cx="896615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Рис. 4. Прогноз vs факт на тесте. Hexbin, 99.8% точек, диагональ — идеал.</a:t>
            </a:r>
            <a:endParaRPr lang="ru-RU" sz="1800" dirty="0"/>
          </a:p>
        </p:txBody>
      </p:sp>
      <p:sp>
        <p:nvSpPr>
          <p:cNvPr id="37" name="Text 37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CatBoost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12 / 17</a:t>
            </a:r>
            <a:endParaRPr lang="ru-RU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Переобучение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6349901" cy="6225183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1143000" y="2371725"/>
            <a:ext cx="3174950" cy="119062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4"/>
          <p:cNvSpPr/>
          <p:nvPr/>
        </p:nvSpPr>
        <p:spPr>
          <a:xfrm>
            <a:off x="1143000" y="3867150"/>
            <a:ext cx="6349901" cy="2365772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5"/>
          <p:cNvSpPr/>
          <p:nvPr/>
        </p:nvSpPr>
        <p:spPr>
          <a:xfrm>
            <a:off x="8254901" y="2095500"/>
            <a:ext cx="8889950" cy="65722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6" name="Image 6" descr="Learning curve CatBoost depth=8: Train MAE 0.492, Val MAE 0.549, gap 10.4%, early stop на 933 деревьях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2167" y="2455664"/>
            <a:ext cx="7395270" cy="5851922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3441948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8" name="Text 8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Переобучение</a:t>
            </a:r>
            <a:endParaRPr lang="ru-RU" sz="4800" dirty="0"/>
          </a:p>
        </p:txBody>
      </p:sp>
      <p:sp>
        <p:nvSpPr>
          <p:cNvPr id="9" name="Text 9"/>
          <p:cNvSpPr txBox="1"/>
          <p:nvPr/>
        </p:nvSpPr>
        <p:spPr>
          <a:xfrm>
            <a:off x="1143000" y="2371725"/>
            <a:ext cx="301302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TRAIN MAE</a:t>
            </a:r>
            <a:endParaRPr lang="ru-RU" sz="1800" dirty="0"/>
          </a:p>
        </p:txBody>
      </p:sp>
      <p:sp>
        <p:nvSpPr>
          <p:cNvPr id="10" name="Text 10"/>
          <p:cNvSpPr txBox="1"/>
          <p:nvPr/>
        </p:nvSpPr>
        <p:spPr>
          <a:xfrm>
            <a:off x="1143000" y="2724150"/>
            <a:ext cx="301302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66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0.492</a:t>
            </a:r>
            <a:endParaRPr lang="ru-RU" sz="6600" dirty="0"/>
          </a:p>
        </p:txBody>
      </p:sp>
      <p:sp>
        <p:nvSpPr>
          <p:cNvPr id="11" name="Text 11"/>
          <p:cNvSpPr txBox="1"/>
          <p:nvPr/>
        </p:nvSpPr>
        <p:spPr>
          <a:xfrm>
            <a:off x="4546550" y="2371725"/>
            <a:ext cx="302255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VAL MAE</a:t>
            </a:r>
            <a:endParaRPr lang="ru-RU" sz="1800" dirty="0"/>
          </a:p>
        </p:txBody>
      </p:sp>
      <p:sp>
        <p:nvSpPr>
          <p:cNvPr id="12" name="Text 12"/>
          <p:cNvSpPr txBox="1"/>
          <p:nvPr/>
        </p:nvSpPr>
        <p:spPr>
          <a:xfrm>
            <a:off x="4546550" y="2724150"/>
            <a:ext cx="302255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66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0.549</a:t>
            </a:r>
            <a:endParaRPr lang="ru-RU" sz="6600" dirty="0"/>
          </a:p>
        </p:txBody>
      </p:sp>
      <p:sp>
        <p:nvSpPr>
          <p:cNvPr id="13" name="Text 13"/>
          <p:cNvSpPr txBox="1"/>
          <p:nvPr/>
        </p:nvSpPr>
        <p:spPr>
          <a:xfrm>
            <a:off x="1143000" y="4105275"/>
            <a:ext cx="6426101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РАЗРЫВ</a:t>
            </a:r>
            <a:endParaRPr lang="ru-RU" sz="1800" dirty="0"/>
          </a:p>
        </p:txBody>
      </p:sp>
      <p:sp>
        <p:nvSpPr>
          <p:cNvPr id="14" name="Text 14"/>
          <p:cNvSpPr txBox="1"/>
          <p:nvPr/>
        </p:nvSpPr>
        <p:spPr>
          <a:xfrm>
            <a:off x="1143000" y="4457700"/>
            <a:ext cx="6426101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72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10.4%</a:t>
            </a:r>
            <a:endParaRPr lang="ru-RU" sz="7200" dirty="0"/>
          </a:p>
        </p:txBody>
      </p:sp>
      <p:sp>
        <p:nvSpPr>
          <p:cNvPr id="15" name="Text 15"/>
          <p:cNvSpPr txBox="1"/>
          <p:nvPr/>
        </p:nvSpPr>
        <p:spPr>
          <a:xfrm>
            <a:off x="1143000" y="5486400"/>
            <a:ext cx="6426101" cy="82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Умеренно. Early stopping остановил рост на ≈933 деревьях.</a:t>
            </a:r>
            <a:endParaRPr lang="ru-RU" sz="2100" dirty="0"/>
          </a:p>
        </p:txBody>
      </p:sp>
      <p:sp>
        <p:nvSpPr>
          <p:cNvPr id="16" name="Text 16"/>
          <p:cNvSpPr txBox="1"/>
          <p:nvPr/>
        </p:nvSpPr>
        <p:spPr>
          <a:xfrm>
            <a:off x="1143000" y="6613922"/>
            <a:ext cx="6426101" cy="4362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L2 регуляризация по умолчанию</a:t>
            </a:r>
            <a:endParaRPr lang="ru-RU" sz="2100" dirty="0"/>
          </a:p>
        </p:txBody>
      </p:sp>
      <p:sp>
        <p:nvSpPr>
          <p:cNvPr id="17" name="Text 17"/>
          <p:cNvSpPr txBox="1"/>
          <p:nvPr/>
        </p:nvSpPr>
        <p:spPr>
          <a:xfrm>
            <a:off x="1143000" y="7107287"/>
            <a:ext cx="6426101" cy="4362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Early stopping по Val MAE, patience 50</a:t>
            </a:r>
            <a:endParaRPr lang="ru-RU" sz="2100" dirty="0"/>
          </a:p>
        </p:txBody>
      </p:sp>
      <p:sp>
        <p:nvSpPr>
          <p:cNvPr id="18" name="Text 18"/>
          <p:cNvSpPr txBox="1"/>
          <p:nvPr/>
        </p:nvSpPr>
        <p:spPr>
          <a:xfrm>
            <a:off x="1143000" y="7600652"/>
            <a:ext cx="6426101" cy="79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Дальнейшее сокращение gap требует больше данных, не тюнинга</a:t>
            </a:r>
            <a:endParaRPr lang="ru-RU" sz="2100" dirty="0"/>
          </a:p>
        </p:txBody>
      </p:sp>
      <p:sp>
        <p:nvSpPr>
          <p:cNvPr id="19" name="Text 19"/>
          <p:cNvSpPr txBox="1"/>
          <p:nvPr/>
        </p:nvSpPr>
        <p:spPr>
          <a:xfrm>
            <a:off x="8254901" y="8820150"/>
            <a:ext cx="89661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Рис. 5. Learning curve · CatBoost depth=8. Early stopping на ≈933 деревьях; gap 10.4%.</a:t>
            </a:r>
            <a:endParaRPr lang="ru-RU" sz="1200" dirty="0"/>
          </a:p>
        </p:txBody>
      </p:sp>
      <p:sp>
        <p:nvSpPr>
          <p:cNvPr id="20" name="Text 20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Переобучение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13 / 17</a:t>
            </a:r>
            <a:endParaRPr lang="ru-RU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eature importance и SHAP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8889950" cy="4830961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3810000" y="3062288"/>
            <a:ext cx="5270450" cy="76200"/>
          </a:xfrm>
          <a:prstGeom prst="rect">
            <a:avLst/>
          </a:prstGeom>
          <a:solidFill>
            <a:srgbClr val="ECECE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4"/>
          <p:cNvSpPr/>
          <p:nvPr/>
        </p:nvSpPr>
        <p:spPr>
          <a:xfrm>
            <a:off x="3810000" y="3062288"/>
            <a:ext cx="5270450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5"/>
          <p:cNvSpPr/>
          <p:nvPr/>
        </p:nvSpPr>
        <p:spPr>
          <a:xfrm>
            <a:off x="3810000" y="3529013"/>
            <a:ext cx="5270450" cy="76200"/>
          </a:xfrm>
          <a:prstGeom prst="rect">
            <a:avLst/>
          </a:prstGeom>
          <a:solidFill>
            <a:srgbClr val="ECECE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6"/>
          <p:cNvSpPr/>
          <p:nvPr/>
        </p:nvSpPr>
        <p:spPr>
          <a:xfrm>
            <a:off x="3810000" y="3529013"/>
            <a:ext cx="4005411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7"/>
          <p:cNvSpPr/>
          <p:nvPr/>
        </p:nvSpPr>
        <p:spPr>
          <a:xfrm>
            <a:off x="3810000" y="3995738"/>
            <a:ext cx="5270450" cy="76200"/>
          </a:xfrm>
          <a:prstGeom prst="rect">
            <a:avLst/>
          </a:prstGeom>
          <a:solidFill>
            <a:srgbClr val="ECECE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8"/>
          <p:cNvSpPr/>
          <p:nvPr/>
        </p:nvSpPr>
        <p:spPr>
          <a:xfrm>
            <a:off x="3810000" y="3995738"/>
            <a:ext cx="2213521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9"/>
          <p:cNvSpPr/>
          <p:nvPr/>
        </p:nvSpPr>
        <p:spPr>
          <a:xfrm>
            <a:off x="3810000" y="4462463"/>
            <a:ext cx="5270450" cy="76200"/>
          </a:xfrm>
          <a:prstGeom prst="rect">
            <a:avLst/>
          </a:prstGeom>
          <a:solidFill>
            <a:srgbClr val="ECECE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10"/>
          <p:cNvSpPr/>
          <p:nvPr/>
        </p:nvSpPr>
        <p:spPr>
          <a:xfrm>
            <a:off x="3810000" y="4462463"/>
            <a:ext cx="2002631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11"/>
          <p:cNvSpPr/>
          <p:nvPr/>
        </p:nvSpPr>
        <p:spPr>
          <a:xfrm>
            <a:off x="3810000" y="4929188"/>
            <a:ext cx="5270450" cy="76200"/>
          </a:xfrm>
          <a:prstGeom prst="rect">
            <a:avLst/>
          </a:prstGeom>
          <a:solidFill>
            <a:srgbClr val="ECECE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2"/>
          <p:cNvSpPr/>
          <p:nvPr/>
        </p:nvSpPr>
        <p:spPr>
          <a:xfrm>
            <a:off x="3810000" y="4929188"/>
            <a:ext cx="1739205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3"/>
          <p:cNvSpPr/>
          <p:nvPr/>
        </p:nvSpPr>
        <p:spPr>
          <a:xfrm>
            <a:off x="3810000" y="5395913"/>
            <a:ext cx="5270450" cy="76200"/>
          </a:xfrm>
          <a:prstGeom prst="rect">
            <a:avLst/>
          </a:prstGeom>
          <a:solidFill>
            <a:srgbClr val="ECECE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4"/>
          <p:cNvSpPr/>
          <p:nvPr/>
        </p:nvSpPr>
        <p:spPr>
          <a:xfrm>
            <a:off x="3810000" y="5395913"/>
            <a:ext cx="1475631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5"/>
          <p:cNvSpPr/>
          <p:nvPr/>
        </p:nvSpPr>
        <p:spPr>
          <a:xfrm>
            <a:off x="3810000" y="5862638"/>
            <a:ext cx="5270450" cy="76200"/>
          </a:xfrm>
          <a:prstGeom prst="rect">
            <a:avLst/>
          </a:prstGeom>
          <a:solidFill>
            <a:srgbClr val="ECECE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6"/>
          <p:cNvSpPr/>
          <p:nvPr/>
        </p:nvSpPr>
        <p:spPr>
          <a:xfrm>
            <a:off x="3810000" y="5862638"/>
            <a:ext cx="1159371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7"/>
          <p:cNvSpPr/>
          <p:nvPr/>
        </p:nvSpPr>
        <p:spPr>
          <a:xfrm>
            <a:off x="1143000" y="6353175"/>
            <a:ext cx="8889950" cy="573286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8"/>
          <p:cNvSpPr/>
          <p:nvPr/>
        </p:nvSpPr>
        <p:spPr>
          <a:xfrm>
            <a:off x="10794950" y="762000"/>
            <a:ext cx="6349901" cy="66865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19" name="Image 19" descr="SHAP beeswarm · top-10 признаков по среднему |SHAP|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475" y="1067842"/>
            <a:ext cx="5568851" cy="6265366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3696295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21" name="Text 21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Feature importance и SHAP</a:t>
            </a:r>
            <a:endParaRPr lang="ru-RU" sz="4800" dirty="0"/>
          </a:p>
        </p:txBody>
      </p:sp>
      <p:sp>
        <p:nvSpPr>
          <p:cNvPr id="22" name="Text 22"/>
          <p:cNvSpPr txBox="1"/>
          <p:nvPr/>
        </p:nvSpPr>
        <p:spPr>
          <a:xfrm>
            <a:off x="1143000" y="2371725"/>
            <a:ext cx="896615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Top-7 признаков · доля importance</a:t>
            </a:r>
            <a:endParaRPr lang="ru-RU" sz="1800" dirty="0"/>
          </a:p>
        </p:txBody>
      </p:sp>
      <p:sp>
        <p:nvSpPr>
          <p:cNvPr id="23" name="Text 23"/>
          <p:cNvSpPr txBox="1"/>
          <p:nvPr/>
        </p:nvSpPr>
        <p:spPr>
          <a:xfrm>
            <a:off x="1143000" y="2952750"/>
            <a:ext cx="25527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rolling_mean_30d</a:t>
            </a:r>
            <a:endParaRPr lang="ru-RU" sz="1800" dirty="0"/>
          </a:p>
        </p:txBody>
      </p:sp>
      <p:sp>
        <p:nvSpPr>
          <p:cNvPr id="24" name="Text 24"/>
          <p:cNvSpPr txBox="1"/>
          <p:nvPr/>
        </p:nvSpPr>
        <p:spPr>
          <a:xfrm>
            <a:off x="9270950" y="2962275"/>
            <a:ext cx="8382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8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22.4%</a:t>
            </a:r>
            <a:endParaRPr lang="ru-RU" sz="1800" dirty="0"/>
          </a:p>
        </p:txBody>
      </p:sp>
      <p:sp>
        <p:nvSpPr>
          <p:cNvPr id="25" name="Text 25"/>
          <p:cNvSpPr txBox="1"/>
          <p:nvPr/>
        </p:nvSpPr>
        <p:spPr>
          <a:xfrm>
            <a:off x="1143000" y="3419475"/>
            <a:ext cx="25527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rolling_mean_7d</a:t>
            </a:r>
            <a:endParaRPr lang="ru-RU" sz="1800" dirty="0"/>
          </a:p>
        </p:txBody>
      </p:sp>
      <p:sp>
        <p:nvSpPr>
          <p:cNvPr id="26" name="Text 26"/>
          <p:cNvSpPr txBox="1"/>
          <p:nvPr/>
        </p:nvSpPr>
        <p:spPr>
          <a:xfrm>
            <a:off x="9270950" y="3429000"/>
            <a:ext cx="8382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8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17.1%</a:t>
            </a:r>
            <a:endParaRPr lang="ru-RU" sz="1800" dirty="0"/>
          </a:p>
        </p:txBody>
      </p:sp>
      <p:sp>
        <p:nvSpPr>
          <p:cNvPr id="27" name="Text 27"/>
          <p:cNvSpPr txBox="1"/>
          <p:nvPr/>
        </p:nvSpPr>
        <p:spPr>
          <a:xfrm>
            <a:off x="1143000" y="3886200"/>
            <a:ext cx="25527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rolling_sum_14d</a:t>
            </a:r>
            <a:endParaRPr lang="ru-RU" sz="1800" dirty="0"/>
          </a:p>
        </p:txBody>
      </p:sp>
      <p:sp>
        <p:nvSpPr>
          <p:cNvPr id="28" name="Text 28"/>
          <p:cNvSpPr txBox="1"/>
          <p:nvPr/>
        </p:nvSpPr>
        <p:spPr>
          <a:xfrm>
            <a:off x="9270950" y="3895725"/>
            <a:ext cx="8382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8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9.5%</a:t>
            </a:r>
            <a:endParaRPr lang="ru-RU" sz="1800" dirty="0"/>
          </a:p>
        </p:txBody>
      </p:sp>
      <p:sp>
        <p:nvSpPr>
          <p:cNvPr id="29" name="Text 29"/>
          <p:cNvSpPr txBox="1"/>
          <p:nvPr/>
        </p:nvSpPr>
        <p:spPr>
          <a:xfrm>
            <a:off x="1143000" y="4352925"/>
            <a:ext cx="25527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price</a:t>
            </a:r>
            <a:endParaRPr lang="ru-RU" sz="1800" dirty="0"/>
          </a:p>
        </p:txBody>
      </p:sp>
      <p:sp>
        <p:nvSpPr>
          <p:cNvPr id="30" name="Text 30"/>
          <p:cNvSpPr txBox="1"/>
          <p:nvPr/>
        </p:nvSpPr>
        <p:spPr>
          <a:xfrm>
            <a:off x="9270950" y="4362450"/>
            <a:ext cx="8382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8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8.5%</a:t>
            </a:r>
            <a:endParaRPr lang="ru-RU" sz="1800" dirty="0"/>
          </a:p>
        </p:txBody>
      </p:sp>
      <p:sp>
        <p:nvSpPr>
          <p:cNvPr id="31" name="Text 31"/>
          <p:cNvSpPr txBox="1"/>
          <p:nvPr/>
        </p:nvSpPr>
        <p:spPr>
          <a:xfrm>
            <a:off x="1143000" y="4819650"/>
            <a:ext cx="25527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product_id</a:t>
            </a:r>
            <a:endParaRPr lang="ru-RU" sz="1800" dirty="0"/>
          </a:p>
        </p:txBody>
      </p:sp>
      <p:sp>
        <p:nvSpPr>
          <p:cNvPr id="32" name="Text 32"/>
          <p:cNvSpPr txBox="1"/>
          <p:nvPr/>
        </p:nvSpPr>
        <p:spPr>
          <a:xfrm>
            <a:off x="9270950" y="4829175"/>
            <a:ext cx="8382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8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7.4%</a:t>
            </a:r>
            <a:endParaRPr lang="ru-RU" sz="1800" dirty="0"/>
          </a:p>
        </p:txBody>
      </p:sp>
      <p:sp>
        <p:nvSpPr>
          <p:cNvPr id="33" name="Text 33"/>
          <p:cNvSpPr txBox="1"/>
          <p:nvPr/>
        </p:nvSpPr>
        <p:spPr>
          <a:xfrm>
            <a:off x="1143000" y="5286375"/>
            <a:ext cx="25527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dow</a:t>
            </a:r>
            <a:endParaRPr lang="ru-RU" sz="1800" dirty="0"/>
          </a:p>
        </p:txBody>
      </p:sp>
      <p:sp>
        <p:nvSpPr>
          <p:cNvPr id="34" name="Text 34"/>
          <p:cNvSpPr txBox="1"/>
          <p:nvPr/>
        </p:nvSpPr>
        <p:spPr>
          <a:xfrm>
            <a:off x="9270950" y="5295900"/>
            <a:ext cx="8382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8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6.3%</a:t>
            </a:r>
            <a:endParaRPr lang="ru-RU" sz="1800" dirty="0"/>
          </a:p>
        </p:txBody>
      </p:sp>
      <p:sp>
        <p:nvSpPr>
          <p:cNvPr id="35" name="Text 35"/>
          <p:cNvSpPr txBox="1"/>
          <p:nvPr/>
        </p:nvSpPr>
        <p:spPr>
          <a:xfrm>
            <a:off x="1143000" y="5753100"/>
            <a:ext cx="25527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discount_pct</a:t>
            </a:r>
            <a:endParaRPr lang="ru-RU" sz="1800" dirty="0"/>
          </a:p>
        </p:txBody>
      </p:sp>
      <p:sp>
        <p:nvSpPr>
          <p:cNvPr id="36" name="Text 36"/>
          <p:cNvSpPr txBox="1"/>
          <p:nvPr/>
        </p:nvSpPr>
        <p:spPr>
          <a:xfrm>
            <a:off x="9270950" y="5762625"/>
            <a:ext cx="8382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8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5.0%</a:t>
            </a:r>
            <a:endParaRPr lang="ru-RU" sz="1800" dirty="0"/>
          </a:p>
        </p:txBody>
      </p:sp>
      <p:sp>
        <p:nvSpPr>
          <p:cNvPr id="37" name="Text 37"/>
          <p:cNvSpPr txBox="1"/>
          <p:nvPr/>
        </p:nvSpPr>
        <p:spPr>
          <a:xfrm>
            <a:off x="1143000" y="6353175"/>
            <a:ext cx="8966150" cy="6494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Rolling-группа суммарно — ~49%. История продаж доминирует.</a:t>
            </a:r>
            <a:endParaRPr lang="ru-RU" sz="2100" dirty="0"/>
          </a:p>
        </p:txBody>
      </p:sp>
      <p:sp>
        <p:nvSpPr>
          <p:cNvPr id="38" name="Text 38"/>
          <p:cNvSpPr txBox="1"/>
          <p:nvPr/>
        </p:nvSpPr>
        <p:spPr>
          <a:xfrm>
            <a:off x="10794950" y="7600950"/>
            <a:ext cx="6426101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2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Рис. 6. SHAP подтверждает вывод: direction эффекта rolling-фич совпадает с ожиданием.</a:t>
            </a:r>
            <a:endParaRPr lang="ru-RU" sz="1200" dirty="0"/>
          </a:p>
        </p:txBody>
      </p:sp>
      <p:sp>
        <p:nvSpPr>
          <p:cNvPr id="39" name="Text 39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Feature importance и SHAP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14 / 17</a:t>
            </a:r>
            <a:endParaRPr lang="ru-RU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Сравнение моделей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8889950" cy="6337697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1143000" y="2371725"/>
            <a:ext cx="2669977" cy="623888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4"/>
          <p:cNvSpPr/>
          <p:nvPr/>
        </p:nvSpPr>
        <p:spPr>
          <a:xfrm>
            <a:off x="3812977" y="2371725"/>
            <a:ext cx="1687860" cy="623888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5"/>
          <p:cNvSpPr/>
          <p:nvPr/>
        </p:nvSpPr>
        <p:spPr>
          <a:xfrm>
            <a:off x="5500836" y="2371725"/>
            <a:ext cx="1870621" cy="623888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6"/>
          <p:cNvSpPr/>
          <p:nvPr/>
        </p:nvSpPr>
        <p:spPr>
          <a:xfrm>
            <a:off x="7371457" y="2371725"/>
            <a:ext cx="2661493" cy="623888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7"/>
          <p:cNvSpPr/>
          <p:nvPr/>
        </p:nvSpPr>
        <p:spPr>
          <a:xfrm>
            <a:off x="1143000" y="2995613"/>
            <a:ext cx="2669977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8"/>
          <p:cNvSpPr/>
          <p:nvPr/>
        </p:nvSpPr>
        <p:spPr>
          <a:xfrm>
            <a:off x="3812977" y="2995613"/>
            <a:ext cx="1687860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9"/>
          <p:cNvSpPr/>
          <p:nvPr/>
        </p:nvSpPr>
        <p:spPr>
          <a:xfrm>
            <a:off x="5500836" y="2995613"/>
            <a:ext cx="1870621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10"/>
          <p:cNvSpPr/>
          <p:nvPr/>
        </p:nvSpPr>
        <p:spPr>
          <a:xfrm>
            <a:off x="7371457" y="2995613"/>
            <a:ext cx="2661493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11"/>
          <p:cNvSpPr/>
          <p:nvPr/>
        </p:nvSpPr>
        <p:spPr>
          <a:xfrm>
            <a:off x="1143000" y="3671888"/>
            <a:ext cx="2669977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2"/>
          <p:cNvSpPr/>
          <p:nvPr/>
        </p:nvSpPr>
        <p:spPr>
          <a:xfrm>
            <a:off x="3812977" y="3671888"/>
            <a:ext cx="1687860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3"/>
          <p:cNvSpPr/>
          <p:nvPr/>
        </p:nvSpPr>
        <p:spPr>
          <a:xfrm>
            <a:off x="5500836" y="3671888"/>
            <a:ext cx="1870621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4"/>
          <p:cNvSpPr/>
          <p:nvPr/>
        </p:nvSpPr>
        <p:spPr>
          <a:xfrm>
            <a:off x="7371457" y="3671888"/>
            <a:ext cx="2661493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5"/>
          <p:cNvSpPr/>
          <p:nvPr/>
        </p:nvSpPr>
        <p:spPr>
          <a:xfrm>
            <a:off x="1143000" y="4348163"/>
            <a:ext cx="2669977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6"/>
          <p:cNvSpPr/>
          <p:nvPr/>
        </p:nvSpPr>
        <p:spPr>
          <a:xfrm>
            <a:off x="3812977" y="4348163"/>
            <a:ext cx="1687860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7"/>
          <p:cNvSpPr/>
          <p:nvPr/>
        </p:nvSpPr>
        <p:spPr>
          <a:xfrm>
            <a:off x="5500836" y="4348163"/>
            <a:ext cx="1870621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8"/>
          <p:cNvSpPr/>
          <p:nvPr/>
        </p:nvSpPr>
        <p:spPr>
          <a:xfrm>
            <a:off x="7371457" y="4348163"/>
            <a:ext cx="2661493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9"/>
          <p:cNvSpPr/>
          <p:nvPr/>
        </p:nvSpPr>
        <p:spPr>
          <a:xfrm>
            <a:off x="1143000" y="5024438"/>
            <a:ext cx="2669977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20"/>
          <p:cNvSpPr/>
          <p:nvPr/>
        </p:nvSpPr>
        <p:spPr>
          <a:xfrm>
            <a:off x="3812977" y="5024438"/>
            <a:ext cx="1687860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21"/>
          <p:cNvSpPr/>
          <p:nvPr/>
        </p:nvSpPr>
        <p:spPr>
          <a:xfrm>
            <a:off x="5500836" y="5024438"/>
            <a:ext cx="1870621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2"/>
          <p:cNvSpPr/>
          <p:nvPr/>
        </p:nvSpPr>
        <p:spPr>
          <a:xfrm>
            <a:off x="7371457" y="5024438"/>
            <a:ext cx="2661493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3"/>
          <p:cNvSpPr/>
          <p:nvPr/>
        </p:nvSpPr>
        <p:spPr>
          <a:xfrm>
            <a:off x="1143000" y="5700713"/>
            <a:ext cx="8889950" cy="31432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4"/>
          <p:cNvSpPr/>
          <p:nvPr/>
        </p:nvSpPr>
        <p:spPr>
          <a:xfrm>
            <a:off x="1143000" y="6015038"/>
            <a:ext cx="2669977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5"/>
          <p:cNvSpPr/>
          <p:nvPr/>
        </p:nvSpPr>
        <p:spPr>
          <a:xfrm>
            <a:off x="3812977" y="6015038"/>
            <a:ext cx="1687860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6"/>
          <p:cNvSpPr/>
          <p:nvPr/>
        </p:nvSpPr>
        <p:spPr>
          <a:xfrm>
            <a:off x="5500836" y="6015038"/>
            <a:ext cx="1870621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7"/>
          <p:cNvSpPr/>
          <p:nvPr/>
        </p:nvSpPr>
        <p:spPr>
          <a:xfrm>
            <a:off x="7371457" y="6015038"/>
            <a:ext cx="2661493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8"/>
          <p:cNvSpPr/>
          <p:nvPr/>
        </p:nvSpPr>
        <p:spPr>
          <a:xfrm>
            <a:off x="1143000" y="6691313"/>
            <a:ext cx="2669977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9"/>
          <p:cNvSpPr/>
          <p:nvPr/>
        </p:nvSpPr>
        <p:spPr>
          <a:xfrm>
            <a:off x="3812977" y="6691313"/>
            <a:ext cx="1687860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30"/>
          <p:cNvSpPr/>
          <p:nvPr/>
        </p:nvSpPr>
        <p:spPr>
          <a:xfrm>
            <a:off x="5500836" y="6691313"/>
            <a:ext cx="1870621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31"/>
          <p:cNvSpPr/>
          <p:nvPr/>
        </p:nvSpPr>
        <p:spPr>
          <a:xfrm>
            <a:off x="7371457" y="6691313"/>
            <a:ext cx="2661493" cy="676275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32"/>
          <p:cNvSpPr/>
          <p:nvPr/>
        </p:nvSpPr>
        <p:spPr>
          <a:xfrm>
            <a:off x="1143000" y="7562850"/>
            <a:ext cx="8889950" cy="870347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3"/>
          <p:cNvSpPr txBox="1"/>
          <p:nvPr/>
        </p:nvSpPr>
        <p:spPr>
          <a:xfrm>
            <a:off x="3638848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34" name="Text 34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Сравнение моделей</a:t>
            </a:r>
            <a:endParaRPr lang="ru-RU" sz="4800" dirty="0"/>
          </a:p>
        </p:txBody>
      </p:sp>
      <p:sp>
        <p:nvSpPr>
          <p:cNvPr id="35" name="Text 35"/>
          <p:cNvSpPr txBox="1"/>
          <p:nvPr/>
        </p:nvSpPr>
        <p:spPr>
          <a:xfrm>
            <a:off x="1143000" y="2371725"/>
            <a:ext cx="2746177" cy="700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МОДЕЛЬ</a:t>
            </a:r>
            <a:endParaRPr lang="ru-RU" sz="1800" dirty="0"/>
          </a:p>
        </p:txBody>
      </p:sp>
      <p:sp>
        <p:nvSpPr>
          <p:cNvPr id="36" name="Text 36"/>
          <p:cNvSpPr txBox="1"/>
          <p:nvPr/>
        </p:nvSpPr>
        <p:spPr>
          <a:xfrm>
            <a:off x="3812977" y="2371725"/>
            <a:ext cx="1764060" cy="700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VAL MAE</a:t>
            </a:r>
            <a:endParaRPr lang="ru-RU" sz="1800" dirty="0"/>
          </a:p>
        </p:txBody>
      </p:sp>
      <p:sp>
        <p:nvSpPr>
          <p:cNvPr id="37" name="Text 37"/>
          <p:cNvSpPr txBox="1"/>
          <p:nvPr/>
        </p:nvSpPr>
        <p:spPr>
          <a:xfrm>
            <a:off x="5500836" y="2371725"/>
            <a:ext cx="1946821" cy="700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TEST MAE</a:t>
            </a:r>
            <a:endParaRPr lang="ru-RU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7371457" y="2371725"/>
            <a:ext cx="2737693" cy="700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Δ VS. BASELINE</a:t>
            </a:r>
            <a:endParaRPr lang="ru-RU" sz="1800" dirty="0"/>
          </a:p>
        </p:txBody>
      </p:sp>
      <p:sp>
        <p:nvSpPr>
          <p:cNvPr id="39" name="Text 39"/>
          <p:cNvSpPr txBox="1"/>
          <p:nvPr/>
        </p:nvSpPr>
        <p:spPr>
          <a:xfrm>
            <a:off x="1143000" y="2995613"/>
            <a:ext cx="2746177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Rolling Mean 7d</a:t>
            </a:r>
            <a:endParaRPr lang="ru-RU" sz="2100" dirty="0"/>
          </a:p>
        </p:txBody>
      </p:sp>
      <p:sp>
        <p:nvSpPr>
          <p:cNvPr id="40" name="Text 40"/>
          <p:cNvSpPr txBox="1"/>
          <p:nvPr/>
        </p:nvSpPr>
        <p:spPr>
          <a:xfrm>
            <a:off x="3812977" y="2995613"/>
            <a:ext cx="1764060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0.658</a:t>
            </a:r>
            <a:endParaRPr lang="ru-RU" sz="2100" dirty="0"/>
          </a:p>
        </p:txBody>
      </p:sp>
      <p:sp>
        <p:nvSpPr>
          <p:cNvPr id="41" name="Text 41"/>
          <p:cNvSpPr txBox="1"/>
          <p:nvPr/>
        </p:nvSpPr>
        <p:spPr>
          <a:xfrm>
            <a:off x="5500836" y="2995613"/>
            <a:ext cx="1946821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0.712</a:t>
            </a:r>
            <a:endParaRPr lang="ru-RU" sz="2100" dirty="0"/>
          </a:p>
        </p:txBody>
      </p:sp>
      <p:sp>
        <p:nvSpPr>
          <p:cNvPr id="42" name="Text 42"/>
          <p:cNvSpPr txBox="1"/>
          <p:nvPr/>
        </p:nvSpPr>
        <p:spPr>
          <a:xfrm>
            <a:off x="7371457" y="2995613"/>
            <a:ext cx="2737693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baseline</a:t>
            </a:r>
            <a:endParaRPr lang="ru-RU" sz="2100" dirty="0"/>
          </a:p>
        </p:txBody>
      </p:sp>
      <p:sp>
        <p:nvSpPr>
          <p:cNvPr id="43" name="Text 43"/>
          <p:cNvSpPr txBox="1"/>
          <p:nvPr/>
        </p:nvSpPr>
        <p:spPr>
          <a:xfrm>
            <a:off x="1143000" y="3671888"/>
            <a:ext cx="2746177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CatBoost</a:t>
            </a:r>
            <a:endParaRPr lang="ru-RU" sz="2100" dirty="0"/>
          </a:p>
        </p:txBody>
      </p:sp>
      <p:sp>
        <p:nvSpPr>
          <p:cNvPr id="44" name="Text 44"/>
          <p:cNvSpPr txBox="1"/>
          <p:nvPr/>
        </p:nvSpPr>
        <p:spPr>
          <a:xfrm>
            <a:off x="3812977" y="3671888"/>
            <a:ext cx="1764060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0.549</a:t>
            </a:r>
            <a:endParaRPr lang="ru-RU" sz="2100" dirty="0"/>
          </a:p>
        </p:txBody>
      </p:sp>
      <p:sp>
        <p:nvSpPr>
          <p:cNvPr id="45" name="Text 45"/>
          <p:cNvSpPr txBox="1"/>
          <p:nvPr/>
        </p:nvSpPr>
        <p:spPr>
          <a:xfrm>
            <a:off x="5500836" y="3671888"/>
            <a:ext cx="1946821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0.597</a:t>
            </a:r>
            <a:endParaRPr lang="ru-RU" sz="2100" dirty="0"/>
          </a:p>
        </p:txBody>
      </p:sp>
      <p:sp>
        <p:nvSpPr>
          <p:cNvPr id="46" name="Text 46"/>
          <p:cNvSpPr txBox="1"/>
          <p:nvPr/>
        </p:nvSpPr>
        <p:spPr>
          <a:xfrm>
            <a:off x="7371457" y="3671888"/>
            <a:ext cx="2737693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−16.2%</a:t>
            </a:r>
            <a:endParaRPr lang="ru-RU" sz="2100" dirty="0"/>
          </a:p>
        </p:txBody>
      </p:sp>
      <p:sp>
        <p:nvSpPr>
          <p:cNvPr id="47" name="Text 47"/>
          <p:cNvSpPr txBox="1"/>
          <p:nvPr/>
        </p:nvSpPr>
        <p:spPr>
          <a:xfrm>
            <a:off x="1143000" y="4348163"/>
            <a:ext cx="2746177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XGBoost</a:t>
            </a:r>
            <a:endParaRPr lang="ru-RU" sz="2100" dirty="0"/>
          </a:p>
        </p:txBody>
      </p:sp>
      <p:sp>
        <p:nvSpPr>
          <p:cNvPr id="48" name="Text 48"/>
          <p:cNvSpPr txBox="1"/>
          <p:nvPr/>
        </p:nvSpPr>
        <p:spPr>
          <a:xfrm>
            <a:off x="3812977" y="4348163"/>
            <a:ext cx="1764060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0.572</a:t>
            </a:r>
            <a:endParaRPr lang="ru-RU" sz="2100" dirty="0"/>
          </a:p>
        </p:txBody>
      </p:sp>
      <p:sp>
        <p:nvSpPr>
          <p:cNvPr id="49" name="Text 49"/>
          <p:cNvSpPr txBox="1"/>
          <p:nvPr/>
        </p:nvSpPr>
        <p:spPr>
          <a:xfrm>
            <a:off x="5500836" y="4348163"/>
            <a:ext cx="1946821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0.606</a:t>
            </a:r>
            <a:endParaRPr lang="ru-RU" sz="2100" dirty="0"/>
          </a:p>
        </p:txBody>
      </p:sp>
      <p:sp>
        <p:nvSpPr>
          <p:cNvPr id="50" name="Text 50"/>
          <p:cNvSpPr txBox="1"/>
          <p:nvPr/>
        </p:nvSpPr>
        <p:spPr>
          <a:xfrm>
            <a:off x="7371457" y="4348163"/>
            <a:ext cx="2737693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−14.9%</a:t>
            </a:r>
            <a:endParaRPr lang="ru-RU" sz="2100" dirty="0"/>
          </a:p>
        </p:txBody>
      </p:sp>
      <p:sp>
        <p:nvSpPr>
          <p:cNvPr id="51" name="Text 51"/>
          <p:cNvSpPr txBox="1"/>
          <p:nvPr/>
        </p:nvSpPr>
        <p:spPr>
          <a:xfrm>
            <a:off x="1143000" y="5024438"/>
            <a:ext cx="2746177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LightGBM</a:t>
            </a:r>
            <a:endParaRPr lang="ru-RU" sz="2100" dirty="0"/>
          </a:p>
        </p:txBody>
      </p:sp>
      <p:sp>
        <p:nvSpPr>
          <p:cNvPr id="52" name="Text 52"/>
          <p:cNvSpPr txBox="1"/>
          <p:nvPr/>
        </p:nvSpPr>
        <p:spPr>
          <a:xfrm>
            <a:off x="3812977" y="5024438"/>
            <a:ext cx="1764060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0.550</a:t>
            </a:r>
            <a:endParaRPr lang="ru-RU" sz="2100" dirty="0"/>
          </a:p>
        </p:txBody>
      </p:sp>
      <p:sp>
        <p:nvSpPr>
          <p:cNvPr id="53" name="Text 53"/>
          <p:cNvSpPr txBox="1"/>
          <p:nvPr/>
        </p:nvSpPr>
        <p:spPr>
          <a:xfrm>
            <a:off x="5500836" y="5024438"/>
            <a:ext cx="1946821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0.599</a:t>
            </a:r>
            <a:endParaRPr lang="ru-RU" sz="2100" dirty="0"/>
          </a:p>
        </p:txBody>
      </p:sp>
      <p:sp>
        <p:nvSpPr>
          <p:cNvPr id="54" name="Text 54"/>
          <p:cNvSpPr txBox="1"/>
          <p:nvPr/>
        </p:nvSpPr>
        <p:spPr>
          <a:xfrm>
            <a:off x="7371457" y="5024438"/>
            <a:ext cx="2737693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−15.9%</a:t>
            </a:r>
            <a:endParaRPr lang="ru-RU" sz="2100" dirty="0"/>
          </a:p>
        </p:txBody>
      </p:sp>
      <p:sp>
        <p:nvSpPr>
          <p:cNvPr id="55" name="Text 55"/>
          <p:cNvSpPr txBox="1"/>
          <p:nvPr/>
        </p:nvSpPr>
        <p:spPr>
          <a:xfrm>
            <a:off x="1143000" y="5700713"/>
            <a:ext cx="8966150" cy="390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975" b="1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НЕЙРОСЕТИ</a:t>
            </a:r>
            <a:endParaRPr lang="ru-RU" sz="975" dirty="0"/>
          </a:p>
        </p:txBody>
      </p:sp>
      <p:sp>
        <p:nvSpPr>
          <p:cNvPr id="56" name="Text 56"/>
          <p:cNvSpPr txBox="1"/>
          <p:nvPr/>
        </p:nvSpPr>
        <p:spPr>
          <a:xfrm>
            <a:off x="1143000" y="6015038"/>
            <a:ext cx="2746177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MLP</a:t>
            </a:r>
            <a:endParaRPr lang="ru-RU" sz="2100" dirty="0"/>
          </a:p>
        </p:txBody>
      </p:sp>
      <p:sp>
        <p:nvSpPr>
          <p:cNvPr id="57" name="Text 57"/>
          <p:cNvSpPr txBox="1"/>
          <p:nvPr/>
        </p:nvSpPr>
        <p:spPr>
          <a:xfrm>
            <a:off x="3812977" y="6015038"/>
            <a:ext cx="1764060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0.616</a:t>
            </a:r>
            <a:endParaRPr lang="ru-RU" sz="2100" dirty="0"/>
          </a:p>
        </p:txBody>
      </p:sp>
      <p:sp>
        <p:nvSpPr>
          <p:cNvPr id="58" name="Text 58"/>
          <p:cNvSpPr txBox="1"/>
          <p:nvPr/>
        </p:nvSpPr>
        <p:spPr>
          <a:xfrm>
            <a:off x="5500836" y="6015038"/>
            <a:ext cx="1946821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0.677</a:t>
            </a:r>
            <a:endParaRPr lang="ru-RU" sz="2100" dirty="0"/>
          </a:p>
        </p:txBody>
      </p:sp>
      <p:sp>
        <p:nvSpPr>
          <p:cNvPr id="59" name="Text 59"/>
          <p:cNvSpPr txBox="1"/>
          <p:nvPr/>
        </p:nvSpPr>
        <p:spPr>
          <a:xfrm>
            <a:off x="7371457" y="6015038"/>
            <a:ext cx="2737693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−4.9%</a:t>
            </a:r>
            <a:endParaRPr lang="ru-RU" sz="2100" dirty="0"/>
          </a:p>
        </p:txBody>
      </p:sp>
      <p:sp>
        <p:nvSpPr>
          <p:cNvPr id="60" name="Text 60"/>
          <p:cNvSpPr txBox="1"/>
          <p:nvPr/>
        </p:nvSpPr>
        <p:spPr>
          <a:xfrm>
            <a:off x="1143000" y="6691313"/>
            <a:ext cx="2746177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Conv1D</a:t>
            </a:r>
            <a:endParaRPr lang="ru-RU" sz="2100" dirty="0"/>
          </a:p>
        </p:txBody>
      </p:sp>
      <p:sp>
        <p:nvSpPr>
          <p:cNvPr id="61" name="Text 61"/>
          <p:cNvSpPr txBox="1"/>
          <p:nvPr/>
        </p:nvSpPr>
        <p:spPr>
          <a:xfrm>
            <a:off x="3812977" y="6691313"/>
            <a:ext cx="1764060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0.606</a:t>
            </a:r>
            <a:endParaRPr lang="ru-RU" sz="2100" dirty="0"/>
          </a:p>
        </p:txBody>
      </p:sp>
      <p:sp>
        <p:nvSpPr>
          <p:cNvPr id="62" name="Text 62"/>
          <p:cNvSpPr txBox="1"/>
          <p:nvPr/>
        </p:nvSpPr>
        <p:spPr>
          <a:xfrm>
            <a:off x="5500836" y="6691313"/>
            <a:ext cx="1946821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0.661</a:t>
            </a:r>
            <a:endParaRPr lang="ru-RU" sz="2100" dirty="0"/>
          </a:p>
        </p:txBody>
      </p:sp>
      <p:sp>
        <p:nvSpPr>
          <p:cNvPr id="63" name="Text 63"/>
          <p:cNvSpPr txBox="1"/>
          <p:nvPr/>
        </p:nvSpPr>
        <p:spPr>
          <a:xfrm>
            <a:off x="7371457" y="6691313"/>
            <a:ext cx="2737693" cy="752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r">
              <a:buNone/>
            </a:pPr>
            <a:r>
              <a:rPr lang="ru-RU" sz="21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−7.2%</a:t>
            </a:r>
            <a:endParaRPr lang="ru-RU" sz="2100" dirty="0"/>
          </a:p>
        </p:txBody>
      </p:sp>
      <p:sp>
        <p:nvSpPr>
          <p:cNvPr id="64" name="Text 64"/>
          <p:cNvSpPr txBox="1"/>
          <p:nvPr/>
        </p:nvSpPr>
        <p:spPr>
          <a:xfrm>
            <a:off x="1143000" y="7562850"/>
            <a:ext cx="8966150" cy="946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Единый fixed-rolling контракт: одинаковый split, один набор признаков и единая метрика MAE.</a:t>
            </a:r>
            <a:endParaRPr lang="ru-RU" sz="2100" dirty="0"/>
          </a:p>
        </p:txBody>
      </p:sp>
      <p:sp>
        <p:nvSpPr>
          <p:cNvPr id="65" name="Text 65"/>
          <p:cNvSpPr txBox="1"/>
          <p:nvPr/>
        </p:nvSpPr>
        <p:spPr>
          <a:xfrm>
            <a:off x="10794950" y="2095500"/>
            <a:ext cx="6426101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Что видно на сравнении</a:t>
            </a:r>
            <a:endParaRPr lang="ru-RU" sz="1800" dirty="0"/>
          </a:p>
        </p:txBody>
      </p:sp>
      <p:sp>
        <p:nvSpPr>
          <p:cNvPr id="66" name="Text 66"/>
          <p:cNvSpPr txBox="1"/>
          <p:nvPr/>
        </p:nvSpPr>
        <p:spPr>
          <a:xfrm>
            <a:off x="10794950" y="2524125"/>
            <a:ext cx="6426101" cy="79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CatBoost — лучший результат на едином сравнении</a:t>
            </a:r>
            <a:endParaRPr lang="ru-RU" sz="2100" dirty="0"/>
          </a:p>
        </p:txBody>
      </p:sp>
      <p:sp>
        <p:nvSpPr>
          <p:cNvPr id="67" name="Text 67"/>
          <p:cNvSpPr txBox="1"/>
          <p:nvPr/>
        </p:nvSpPr>
        <p:spPr>
          <a:xfrm>
            <a:off x="10794950" y="3377505"/>
            <a:ext cx="6426101" cy="4362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Все бустинги уверенно лучше baseline</a:t>
            </a:r>
            <a:endParaRPr lang="ru-RU" sz="2100" dirty="0"/>
          </a:p>
        </p:txBody>
      </p:sp>
      <p:sp>
        <p:nvSpPr>
          <p:cNvPr id="68" name="Text 68"/>
          <p:cNvSpPr txBox="1"/>
          <p:nvPr/>
        </p:nvSpPr>
        <p:spPr>
          <a:xfrm>
            <a:off x="10794950" y="3870871"/>
            <a:ext cx="6426101" cy="4362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Нейросети уступают на табличных данных</a:t>
            </a:r>
            <a:endParaRPr lang="ru-RU" sz="2100" dirty="0"/>
          </a:p>
        </p:txBody>
      </p:sp>
      <p:sp>
        <p:nvSpPr>
          <p:cNvPr id="69" name="Text 69"/>
          <p:cNvSpPr txBox="1"/>
          <p:nvPr/>
        </p:nvSpPr>
        <p:spPr>
          <a:xfrm>
            <a:off x="10794950" y="4364236"/>
            <a:ext cx="6426101" cy="79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• CatBoost сочетает качество и интерпретируемость</a:t>
            </a:r>
            <a:endParaRPr lang="ru-RU" sz="2100" dirty="0"/>
          </a:p>
        </p:txBody>
      </p:sp>
      <p:sp>
        <p:nvSpPr>
          <p:cNvPr id="70" name="Text 70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Сравнение моделей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15 / 17</a:t>
            </a:r>
            <a:endParaRPr lang="ru-RU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Выводы и ошибк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16002000" cy="2861072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1143000" y="2447925"/>
            <a:ext cx="5334000" cy="2508647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4"/>
          <p:cNvSpPr/>
          <p:nvPr/>
        </p:nvSpPr>
        <p:spPr>
          <a:xfrm>
            <a:off x="6477000" y="2447925"/>
            <a:ext cx="5334000" cy="2508647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5"/>
          <p:cNvSpPr/>
          <p:nvPr/>
        </p:nvSpPr>
        <p:spPr>
          <a:xfrm>
            <a:off x="1143000" y="5489972"/>
            <a:ext cx="16002000" cy="2605683"/>
          </a:xfrm>
          <a:prstGeom prst="rect">
            <a:avLst/>
          </a:prstGeom>
          <a:noFill/>
          <a:ln w="9525">
            <a:solidFill>
              <a:srgbClr val="ECECE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6"/>
          <p:cNvSpPr/>
          <p:nvPr/>
        </p:nvSpPr>
        <p:spPr>
          <a:xfrm>
            <a:off x="9525000" y="5766197"/>
            <a:ext cx="2644229" cy="42862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7"/>
          <p:cNvSpPr txBox="1"/>
          <p:nvPr/>
        </p:nvSpPr>
        <p:spPr>
          <a:xfrm>
            <a:off x="2260253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8" name="Text 8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Выводы и ошибки</a:t>
            </a:r>
            <a:endParaRPr lang="ru-RU" sz="4800" dirty="0"/>
          </a:p>
        </p:txBody>
      </p:sp>
      <p:sp>
        <p:nvSpPr>
          <p:cNvPr id="9" name="Text 9"/>
          <p:cNvSpPr txBox="1"/>
          <p:nvPr/>
        </p:nvSpPr>
        <p:spPr>
          <a:xfrm>
            <a:off x="1143000" y="2447925"/>
            <a:ext cx="49434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TEST MAE</a:t>
            </a:r>
            <a:endParaRPr lang="ru-RU" sz="1800" dirty="0"/>
          </a:p>
        </p:txBody>
      </p:sp>
      <p:sp>
        <p:nvSpPr>
          <p:cNvPr id="10" name="Text 10"/>
          <p:cNvSpPr txBox="1"/>
          <p:nvPr/>
        </p:nvSpPr>
        <p:spPr>
          <a:xfrm>
            <a:off x="1143000" y="2838450"/>
            <a:ext cx="4943475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96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0.597</a:t>
            </a:r>
            <a:endParaRPr lang="ru-RU" sz="9600" dirty="0"/>
          </a:p>
        </p:txBody>
      </p:sp>
      <p:sp>
        <p:nvSpPr>
          <p:cNvPr id="11" name="Text 11"/>
          <p:cNvSpPr txBox="1"/>
          <p:nvPr/>
        </p:nvSpPr>
        <p:spPr>
          <a:xfrm>
            <a:off x="1143000" y="4210050"/>
            <a:ext cx="4943475" cy="4494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−16.2% vs. Rolling Mean 7d</a:t>
            </a:r>
            <a:endParaRPr lang="ru-RU" sz="2100" dirty="0"/>
          </a:p>
        </p:txBody>
      </p:sp>
      <p:sp>
        <p:nvSpPr>
          <p:cNvPr id="12" name="Text 12"/>
          <p:cNvSpPr txBox="1"/>
          <p:nvPr/>
        </p:nvSpPr>
        <p:spPr>
          <a:xfrm>
            <a:off x="6934200" y="2447925"/>
            <a:ext cx="44862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СРЕДНЯЯ ОШИБКА</a:t>
            </a:r>
            <a:endParaRPr lang="ru-RU" sz="1800" dirty="0"/>
          </a:p>
        </p:txBody>
      </p:sp>
      <p:sp>
        <p:nvSpPr>
          <p:cNvPr id="13" name="Text 13"/>
          <p:cNvSpPr txBox="1"/>
          <p:nvPr/>
        </p:nvSpPr>
        <p:spPr>
          <a:xfrm>
            <a:off x="6934200" y="2838450"/>
            <a:ext cx="4486275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96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&lt; 1шт</a:t>
            </a:r>
            <a:endParaRPr lang="ru-RU" sz="9600" dirty="0"/>
          </a:p>
        </p:txBody>
      </p:sp>
      <p:sp>
        <p:nvSpPr>
          <p:cNvPr id="14" name="Text 14"/>
          <p:cNvSpPr txBox="1"/>
          <p:nvPr/>
        </p:nvSpPr>
        <p:spPr>
          <a:xfrm>
            <a:off x="6934200" y="4210050"/>
            <a:ext cx="4486275" cy="82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По порядку величины — одна единица товара</a:t>
            </a:r>
            <a:endParaRPr lang="ru-RU" sz="2100" dirty="0"/>
          </a:p>
        </p:txBody>
      </p:sp>
      <p:sp>
        <p:nvSpPr>
          <p:cNvPr id="15" name="Text 15"/>
          <p:cNvSpPr txBox="1"/>
          <p:nvPr/>
        </p:nvSpPr>
        <p:spPr>
          <a:xfrm>
            <a:off x="12268200" y="2447925"/>
            <a:ext cx="49530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ГЛАВНЫЙ РИСК</a:t>
            </a:r>
            <a:endParaRPr lang="ru-RU" sz="1800" dirty="0"/>
          </a:p>
        </p:txBody>
      </p:sp>
      <p:sp>
        <p:nvSpPr>
          <p:cNvPr id="16" name="Text 16"/>
          <p:cNvSpPr txBox="1"/>
          <p:nvPr/>
        </p:nvSpPr>
        <p:spPr>
          <a:xfrm>
            <a:off x="12268200" y="2838450"/>
            <a:ext cx="4953000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810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0 ≠ 0</a:t>
            </a:r>
            <a:endParaRPr lang="ru-RU" sz="8100" dirty="0"/>
          </a:p>
        </p:txBody>
      </p:sp>
      <p:sp>
        <p:nvSpPr>
          <p:cNvPr id="17" name="Text 17"/>
          <p:cNvSpPr txBox="1"/>
          <p:nvPr/>
        </p:nvSpPr>
        <p:spPr>
          <a:xfrm>
            <a:off x="12268200" y="4019550"/>
            <a:ext cx="4953000" cy="8227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Ноль продаж не равен нулевому спросу</a:t>
            </a:r>
            <a:endParaRPr lang="ru-RU" sz="2100" dirty="0"/>
          </a:p>
        </p:txBody>
      </p:sp>
      <p:sp>
        <p:nvSpPr>
          <p:cNvPr id="18" name="Text 18"/>
          <p:cNvSpPr txBox="1"/>
          <p:nvPr/>
        </p:nvSpPr>
        <p:spPr>
          <a:xfrm>
            <a:off x="1143000" y="5766197"/>
            <a:ext cx="76962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Источник ошибки</a:t>
            </a:r>
            <a:endParaRPr lang="ru-RU" sz="1800" dirty="0"/>
          </a:p>
        </p:txBody>
      </p:sp>
      <p:sp>
        <p:nvSpPr>
          <p:cNvPr id="19" name="Text 19"/>
          <p:cNvSpPr txBox="1"/>
          <p:nvPr/>
        </p:nvSpPr>
        <p:spPr>
          <a:xfrm>
            <a:off x="1143000" y="6194822"/>
            <a:ext cx="7696200" cy="1387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550" dirty="0">
                <a:solidFill>
                  <a:srgbClr val="3A3A3C"/>
                </a:solidFill>
                <a:latin typeface="Arial"/>
                <a:ea typeface="Arial"/>
                <a:cs typeface="Arial"/>
              </a:rPr>
              <a:t>Цензурированный спрос: если товар закончился, продажи падают до нуля, хотя реальный спрос мог остаться высоким.</a:t>
            </a:r>
            <a:endParaRPr lang="ru-RU" sz="2550" dirty="0"/>
          </a:p>
        </p:txBody>
      </p:sp>
      <p:sp>
        <p:nvSpPr>
          <p:cNvPr id="20" name="Text 20"/>
          <p:cNvSpPr txBox="1"/>
          <p:nvPr/>
        </p:nvSpPr>
        <p:spPr>
          <a:xfrm>
            <a:off x="9525000" y="5766197"/>
            <a:ext cx="2720429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СЛЕДУЮЩИЙ ШАГ</a:t>
            </a:r>
            <a:endParaRPr lang="ru-RU" sz="1800" dirty="0"/>
          </a:p>
        </p:txBody>
      </p:sp>
      <p:sp>
        <p:nvSpPr>
          <p:cNvPr id="21" name="Text 21"/>
          <p:cNvSpPr txBox="1"/>
          <p:nvPr/>
        </p:nvSpPr>
        <p:spPr>
          <a:xfrm>
            <a:off x="9525000" y="6347222"/>
            <a:ext cx="7696200" cy="1824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5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Спрос с учётом доступности товара. Явно моделировать факт наличия товара, обучаться только на днях с подтверждённой доступностью.</a:t>
            </a:r>
            <a:endParaRPr lang="ru-RU" sz="2550" dirty="0"/>
          </a:p>
        </p:txBody>
      </p:sp>
      <p:sp>
        <p:nvSpPr>
          <p:cNvPr id="22" name="Text 22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Выводы и ошибки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16 / 17</a:t>
            </a:r>
            <a:endParaRPr lang="ru-RU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Доступность товара и следующие шаг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095500"/>
            <a:ext cx="16002000" cy="1668661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3"/>
          <p:cNvSpPr/>
          <p:nvPr/>
        </p:nvSpPr>
        <p:spPr>
          <a:xfrm>
            <a:off x="1143000" y="4221361"/>
            <a:ext cx="5079950" cy="339030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4"/>
          <p:cNvSpPr/>
          <p:nvPr/>
        </p:nvSpPr>
        <p:spPr>
          <a:xfrm>
            <a:off x="6603950" y="4221361"/>
            <a:ext cx="5079950" cy="339030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5"/>
          <p:cNvSpPr/>
          <p:nvPr/>
        </p:nvSpPr>
        <p:spPr>
          <a:xfrm>
            <a:off x="12064901" y="4221361"/>
            <a:ext cx="5079950" cy="3390305"/>
          </a:xfrm>
          <a:prstGeom prst="rect">
            <a:avLst/>
          </a:prstGeom>
          <a:noFill/>
          <a:ln w="9525">
            <a:solidFill>
              <a:srgbClr val="D6D6D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6"/>
          <p:cNvSpPr txBox="1"/>
          <p:nvPr/>
        </p:nvSpPr>
        <p:spPr>
          <a:xfrm>
            <a:off x="2764185" y="952500"/>
            <a:ext cx="173087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·</a:t>
            </a:r>
            <a:endParaRPr lang="ru-RU" sz="1800" dirty="0"/>
          </a:p>
        </p:txBody>
      </p:sp>
      <p:sp>
        <p:nvSpPr>
          <p:cNvPr id="7" name="Text 7"/>
          <p:cNvSpPr txBox="1"/>
          <p:nvPr/>
        </p:nvSpPr>
        <p:spPr>
          <a:xfrm>
            <a:off x="1143000" y="1362075"/>
            <a:ext cx="15849600" cy="73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48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Доступность товара и следующие шаги</a:t>
            </a:r>
            <a:endParaRPr lang="ru-RU" sz="4800" dirty="0"/>
          </a:p>
        </p:txBody>
      </p:sp>
      <p:sp>
        <p:nvSpPr>
          <p:cNvPr id="8" name="Text 8"/>
          <p:cNvSpPr txBox="1"/>
          <p:nvPr/>
        </p:nvSpPr>
        <p:spPr>
          <a:xfrm>
            <a:off x="1143000" y="2371725"/>
            <a:ext cx="160782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Ограничение текущей модели</a:t>
            </a:r>
            <a:endParaRPr lang="ru-RU" sz="1800" dirty="0"/>
          </a:p>
        </p:txBody>
      </p:sp>
      <p:sp>
        <p:nvSpPr>
          <p:cNvPr id="9" name="Text 9"/>
          <p:cNvSpPr txBox="1"/>
          <p:nvPr/>
        </p:nvSpPr>
        <p:spPr>
          <a:xfrm>
            <a:off x="1143000" y="2800350"/>
            <a:ext cx="16078200" cy="10400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33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Цензурированный спрос: ноль продаж при пустом слоте неотличим от нулевого спроса.</a:t>
            </a:r>
            <a:endParaRPr lang="ru-RU" sz="3300" dirty="0"/>
          </a:p>
        </p:txBody>
      </p:sp>
      <p:sp>
        <p:nvSpPr>
          <p:cNvPr id="10" name="Text 10"/>
          <p:cNvSpPr txBox="1"/>
          <p:nvPr/>
        </p:nvSpPr>
        <p:spPr>
          <a:xfrm>
            <a:off x="1457325" y="4535686"/>
            <a:ext cx="45275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Шаг 1</a:t>
            </a:r>
            <a:endParaRPr lang="ru-RU" sz="1800" dirty="0"/>
          </a:p>
        </p:txBody>
      </p:sp>
      <p:sp>
        <p:nvSpPr>
          <p:cNvPr id="11" name="Text 11"/>
          <p:cNvSpPr txBox="1"/>
          <p:nvPr/>
        </p:nvSpPr>
        <p:spPr>
          <a:xfrm>
            <a:off x="1457325" y="4926211"/>
            <a:ext cx="4527500" cy="448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5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Признаки доступности</a:t>
            </a:r>
            <a:endParaRPr lang="ru-RU" sz="2550" dirty="0"/>
          </a:p>
        </p:txBody>
      </p:sp>
      <p:sp>
        <p:nvSpPr>
          <p:cNvPr id="12" name="Text 12"/>
          <p:cNvSpPr txBox="1"/>
          <p:nvPr/>
        </p:nvSpPr>
        <p:spPr>
          <a:xfrm>
            <a:off x="1457325" y="5431929"/>
            <a:ext cx="4527500" cy="11959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is_available, hours_out_of_stock, refill_recency — из снимков остатков.</a:t>
            </a:r>
            <a:endParaRPr lang="ru-RU" sz="2100" dirty="0"/>
          </a:p>
        </p:txBody>
      </p:sp>
      <p:sp>
        <p:nvSpPr>
          <p:cNvPr id="13" name="Text 13"/>
          <p:cNvSpPr txBox="1"/>
          <p:nvPr/>
        </p:nvSpPr>
        <p:spPr>
          <a:xfrm>
            <a:off x="6918275" y="4535686"/>
            <a:ext cx="45275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Шаг 2</a:t>
            </a:r>
            <a:endParaRPr lang="ru-RU" sz="1800" dirty="0"/>
          </a:p>
        </p:txBody>
      </p:sp>
      <p:sp>
        <p:nvSpPr>
          <p:cNvPr id="14" name="Text 14"/>
          <p:cNvSpPr txBox="1"/>
          <p:nvPr/>
        </p:nvSpPr>
        <p:spPr>
          <a:xfrm>
            <a:off x="6918275" y="4926211"/>
            <a:ext cx="4527500" cy="82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5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Таргет с учётом доступности</a:t>
            </a:r>
            <a:endParaRPr lang="ru-RU" sz="2550" dirty="0"/>
          </a:p>
        </p:txBody>
      </p:sp>
      <p:sp>
        <p:nvSpPr>
          <p:cNvPr id="15" name="Text 15"/>
          <p:cNvSpPr txBox="1"/>
          <p:nvPr/>
        </p:nvSpPr>
        <p:spPr>
          <a:xfrm>
            <a:off x="6918275" y="5804297"/>
            <a:ext cx="4527500" cy="1569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Обучение только на днях с подтверждённой доступностью. Ожидается снижение систематического занижения.</a:t>
            </a:r>
            <a:endParaRPr lang="ru-RU" sz="2100" dirty="0"/>
          </a:p>
        </p:txBody>
      </p:sp>
      <p:sp>
        <p:nvSpPr>
          <p:cNvPr id="16" name="Text 16"/>
          <p:cNvSpPr txBox="1"/>
          <p:nvPr/>
        </p:nvSpPr>
        <p:spPr>
          <a:xfrm>
            <a:off x="12379226" y="4535686"/>
            <a:ext cx="45275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Шаг 3</a:t>
            </a:r>
            <a:endParaRPr lang="ru-RU" sz="1800" dirty="0"/>
          </a:p>
        </p:txBody>
      </p:sp>
      <p:sp>
        <p:nvSpPr>
          <p:cNvPr id="17" name="Text 17"/>
          <p:cNvSpPr txBox="1"/>
          <p:nvPr/>
        </p:nvSpPr>
        <p:spPr>
          <a:xfrm>
            <a:off x="12379226" y="4926211"/>
            <a:ext cx="4527500" cy="448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55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Оптимизация загрузки</a:t>
            </a:r>
            <a:endParaRPr lang="ru-RU" sz="2550" dirty="0"/>
          </a:p>
        </p:txBody>
      </p:sp>
      <p:sp>
        <p:nvSpPr>
          <p:cNvPr id="18" name="Text 18"/>
          <p:cNvSpPr txBox="1"/>
          <p:nvPr/>
        </p:nvSpPr>
        <p:spPr>
          <a:xfrm>
            <a:off x="12379226" y="5431929"/>
            <a:ext cx="4527500" cy="11959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2100" dirty="0">
                <a:solidFill>
                  <a:srgbClr val="6E6E73"/>
                </a:solidFill>
                <a:latin typeface="Arial"/>
                <a:ea typeface="Arial"/>
                <a:cs typeface="Arial"/>
              </a:rPr>
              <a:t>От прогноза спроса к решению о загрузке: минимизация списаний и потерянных продаж.</a:t>
            </a:r>
            <a:endParaRPr lang="ru-RU" sz="2100" dirty="0"/>
          </a:p>
        </p:txBody>
      </p:sp>
      <p:sp>
        <p:nvSpPr>
          <p:cNvPr id="19" name="Text 19"/>
          <p:cNvSpPr txBox="1"/>
          <p:nvPr/>
        </p:nvSpPr>
        <p:spPr>
          <a:xfrm>
            <a:off x="1143000" y="9182100"/>
            <a:ext cx="160782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4000" lnSpcReduction="12000"/>
          </a:bodyPr>
          <a:lstStyle/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Machine Learning · Professional · OTUS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Доступность товара и следующие шаги</a:t>
            </a:r>
            <a:endParaRPr lang="ru-RU" sz="1800" dirty="0"/>
          </a:p>
          <a:p>
            <a:pPr marL="0" indent="0" algn="l">
              <a:buNone/>
            </a:pPr>
            <a:r>
              <a:rPr lang="ru-RU" sz="1800" dirty="0">
                <a:solidFill>
                  <a:srgbClr val="A1A1A6"/>
                </a:solidFill>
                <a:latin typeface="Arial"/>
                <a:ea typeface="Arial"/>
                <a:cs typeface="Arial"/>
              </a:rPr>
              <a:t>17 / 17</a:t>
            </a:r>
            <a:endParaRPr lang="ru-RU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Произвольный</PresentationFormat>
  <Slides>18</Slides>
  <Notes>0</Notes>
  <HiddenSlides>0</HiddenSlides>
  <MMClips>0</MMClips>
  <ScaleCrop>false</ScaleCrop>
  <HeadingPairs>
    <vt:vector size="2" baseType="variant">
      <vt:variant>
        <vt:lpstr>Заголовки слайдов</vt:lpstr>
      </vt:variant>
      <vt:variant>
        <vt:i4>18</vt:i4>
      </vt:variant>
    </vt:vector>
  </HeadingPairs>
  <TitlesOfParts>
    <vt:vector size="18" baseType="lpstr"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CatBoost Demand Forecasting editable</dc:title>
  <dc:subject>ML coursework defense deck</dc:subject>
  <dc:creator>Codex</dc:creator>
  <cp:lastModifiedBy>Codex</cp:lastModifiedBy>
  <cp:revision>1</cp:revision>
  <dcterms:created xsi:type="dcterms:W3CDTF">2026-04-23T11:35:26Z</dcterms:created>
  <dcterms:modified xsi:type="dcterms:W3CDTF">2026-04-23T11:35:26Z</dcterms:modified>
</cp:coreProperties>
</file>